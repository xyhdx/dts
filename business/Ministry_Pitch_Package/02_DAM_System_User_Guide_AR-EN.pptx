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114300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286000"/>
            <a:ext cx="10972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4000" b="1" i="0">
                <a:solidFill>
                  <a:srgbClr val="F9F6EF"/>
                </a:solidFill>
                <a:latin typeface="IBM Plex Sans Arabic"/>
                <a:cs typeface="IBM Plex Sans Arabic"/>
              </a:rPr>
              <a:t>دليل استخدام منصّة دمشق ترانزيت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3000" b="1" i="0">
                <a:solidFill>
                  <a:srgbClr val="C4B47E"/>
                </a:solidFill>
                <a:latin typeface="IBM Plex Sans"/>
                <a:cs typeface="IBM Plex Sans"/>
              </a:rPr>
              <a:t>Damascus Transit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6634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600" b="0" i="0">
                <a:solidFill>
                  <a:srgbClr val="F9F6EF"/>
                </a:solidFill>
                <a:latin typeface="IBM Plex Sans Arabic"/>
                <a:cs typeface="IBM Plex Sans Arabic"/>
              </a:rPr>
              <a:t>للسائقين والمشغّلين ومشرفي الوزارة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D9D5CC"/>
                </a:solidFill>
                <a:latin typeface="IBM Plex Sans"/>
                <a:cs typeface="IBM Plex Sans"/>
              </a:rPr>
              <a:t>For drivers, operators, and Ministry administrators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C4B47E"/>
                </a:solidFill>
                <a:latin typeface="IBM Plex Sans"/>
                <a:cs typeface="IBM Plex Sans"/>
              </a:rPr>
              <a:t>دليل الاستخدام   ·   How-to Guide   · 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الأدوار في لمحة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Roles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9728" cy="162763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السائق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Driver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Uses the in-vehicle GPS unit, or the driver app on a phone.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78308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9632" y="1783080"/>
            <a:ext cx="109728" cy="1627632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47672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المشغّل / المرسل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Operator / Dispatcher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Watches the live map, handles alerts, manages the fleet.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703320"/>
            <a:ext cx="109728" cy="162763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867911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مشرف الوزارة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Ministry administrator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Analytics, route compliance, monthly reports, GTFS.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370332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3703320"/>
            <a:ext cx="109728" cy="1627632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3867911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الراكب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Passenger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Free app for live arrival times — no download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20040" cy="1463040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4600" b="1" i="0">
                <a:solidFill>
                  <a:srgbClr val="C4B47E"/>
                </a:solidFill>
                <a:latin typeface="IBM Plex Sans"/>
                <a:cs typeface="IBM Plex Sans"/>
              </a:rPr>
              <a:t>01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3000" b="1" i="0">
                <a:solidFill>
                  <a:srgbClr val="F9F6EF"/>
                </a:solidFill>
                <a:latin typeface="IBM Plex Sans Arabic"/>
                <a:cs typeface="IBM Plex Sans Arabic"/>
              </a:rPr>
              <a:t>السائق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1" i="0">
                <a:solidFill>
                  <a:srgbClr val="D9D5CC"/>
                </a:solidFill>
                <a:latin typeface="IBM Plex Sans"/>
                <a:cs typeface="IBM Plex Sans"/>
              </a:rPr>
              <a:t>The Driver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وحدة GPS في المركبة (الطريقة الأساسية)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The In-Vehicle GPS Unit (primary method)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783080"/>
            <a:ext cx="566928" cy="566928"/>
          </a:xfrm>
          <a:prstGeom prst="round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 i="0">
                <a:solidFill>
                  <a:srgbClr val="1B4332"/>
                </a:solidFill>
                <a:latin typeface="IBM Plex Sans"/>
                <a:cs typeface="IBM Plex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1746504"/>
            <a:ext cx="9555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spcBef>
                <a:spcPts val="200"/>
              </a:spcBef>
              <a:spcAft>
                <a:spcPts val="100"/>
              </a:spcAft>
            </a:pPr>
            <a:r>
              <a:rPr sz="1400" b="1" i="0">
                <a:solidFill>
                  <a:srgbClr val="0D1B2A"/>
                </a:solidFill>
                <a:latin typeface="IBM Plex Sans Arabic"/>
                <a:cs typeface="IBM Plex Sans Arabic"/>
              </a:rPr>
              <a:t>الوحدة مركّبة في المركبة وموصولة بالكهرباء — يقوم بها فريقنا.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474747"/>
                </a:solidFill>
                <a:latin typeface="IBM Plex Sans"/>
                <a:cs typeface="IBM Plex Sans"/>
              </a:rPr>
              <a:t>The unit is installed in the vehicle and wired to power — done by our team.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743200"/>
            <a:ext cx="566928" cy="566928"/>
          </a:xfrm>
          <a:prstGeom prst="round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 i="0">
                <a:solidFill>
                  <a:srgbClr val="1B4332"/>
                </a:solidFill>
                <a:latin typeface="IBM Plex Sans"/>
                <a:cs typeface="IBM Plex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2706624"/>
            <a:ext cx="9555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spcBef>
                <a:spcPts val="200"/>
              </a:spcBef>
              <a:spcAft>
                <a:spcPts val="100"/>
              </a:spcAft>
            </a:pPr>
            <a:r>
              <a:rPr sz="1400" b="1" i="0">
                <a:solidFill>
                  <a:srgbClr val="0D1B2A"/>
                </a:solidFill>
                <a:latin typeface="IBM Plex Sans Arabic"/>
                <a:cs typeface="IBM Plex Sans Arabic"/>
              </a:rPr>
              <a:t>تعمل تلقائياً مع تشغيل المركبة، وتُرسل الموقع كل 5–10 ثوانٍ.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474747"/>
                </a:solidFill>
                <a:latin typeface="IBM Plex Sans"/>
                <a:cs typeface="IBM Plex Sans"/>
              </a:rPr>
              <a:t>It powers on with the ignition and sends location every 5–10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703320"/>
            <a:ext cx="566928" cy="566928"/>
          </a:xfrm>
          <a:prstGeom prst="round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033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 i="0">
                <a:solidFill>
                  <a:srgbClr val="1B4332"/>
                </a:solidFill>
                <a:latin typeface="IBM Plex Sans"/>
                <a:cs typeface="IBM Plex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3666744"/>
            <a:ext cx="9555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spcBef>
                <a:spcPts val="200"/>
              </a:spcBef>
              <a:spcAft>
                <a:spcPts val="100"/>
              </a:spcAft>
            </a:pPr>
            <a:r>
              <a:rPr sz="1400" b="1" i="0">
                <a:solidFill>
                  <a:srgbClr val="0D1B2A"/>
                </a:solidFill>
                <a:latin typeface="IBM Plex Sans Arabic"/>
                <a:cs typeface="IBM Plex Sans Arabic"/>
              </a:rPr>
              <a:t>لا حاجة لأي إجراء من السائق — الوحدة تعمل وحدها.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474747"/>
                </a:solidFill>
                <a:latin typeface="IBM Plex Sans"/>
                <a:cs typeface="IBM Plex Sans"/>
              </a:rPr>
              <a:t>No action needed from the driver — the unit works on its 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663440"/>
            <a:ext cx="566928" cy="566928"/>
          </a:xfrm>
          <a:prstGeom prst="round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634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 i="0">
                <a:solidFill>
                  <a:srgbClr val="1B4332"/>
                </a:solidFill>
                <a:latin typeface="IBM Plex Sans"/>
                <a:cs typeface="IBM Plex Sa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4626864"/>
            <a:ext cx="9555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spcBef>
                <a:spcPts val="200"/>
              </a:spcBef>
              <a:spcAft>
                <a:spcPts val="100"/>
              </a:spcAft>
            </a:pPr>
            <a:r>
              <a:rPr sz="1400" b="1" i="0">
                <a:solidFill>
                  <a:srgbClr val="0D1B2A"/>
                </a:solidFill>
                <a:latin typeface="IBM Plex Sans Arabic"/>
                <a:cs typeface="IBM Plex Sans Arabic"/>
              </a:rPr>
              <a:t>الضوء الأخضر = متّصلة؛ تخزّن البيانات وترسلها لاحقاً عند انقطاع الشبكة.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474747"/>
                </a:solidFill>
                <a:latin typeface="IBM Plex Sans"/>
                <a:cs typeface="IBM Plex Sans"/>
              </a:rPr>
              <a:t>Green light = online; it buffers data and sends later if the network drops.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تطبيق السائق (بديل عند توفّر هاتف ذكي)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The Driver App (alternative, if a smartphone is available)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783080"/>
            <a:ext cx="566928" cy="566928"/>
          </a:xfrm>
          <a:prstGeom prst="round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 i="0">
                <a:solidFill>
                  <a:srgbClr val="1B4332"/>
                </a:solidFill>
                <a:latin typeface="IBM Plex Sans"/>
                <a:cs typeface="IBM Plex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1746504"/>
            <a:ext cx="9555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spcBef>
                <a:spcPts val="200"/>
              </a:spcBef>
              <a:spcAft>
                <a:spcPts val="100"/>
              </a:spcAft>
            </a:pPr>
            <a:r>
              <a:rPr sz="1400" b="1" i="0">
                <a:solidFill>
                  <a:srgbClr val="0D1B2A"/>
                </a:solidFill>
                <a:latin typeface="IBM Plex Sans Arabic"/>
                <a:cs typeface="IBM Plex Sans Arabic"/>
              </a:rPr>
              <a:t>سجّل الدخول ببيانات المشغّل.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474747"/>
                </a:solidFill>
                <a:latin typeface="IBM Plex Sans"/>
                <a:cs typeface="IBM Plex Sans"/>
              </a:rPr>
              <a:t>Log in with the credentials your operator gives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651760"/>
            <a:ext cx="566928" cy="566928"/>
          </a:xfrm>
          <a:prstGeom prst="round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 i="0">
                <a:solidFill>
                  <a:srgbClr val="1B4332"/>
                </a:solidFill>
                <a:latin typeface="IBM Plex Sans"/>
                <a:cs typeface="IBM Plex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2615184"/>
            <a:ext cx="9555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spcBef>
                <a:spcPts val="200"/>
              </a:spcBef>
              <a:spcAft>
                <a:spcPts val="100"/>
              </a:spcAft>
            </a:pPr>
            <a:r>
              <a:rPr sz="1400" b="1" i="0">
                <a:solidFill>
                  <a:srgbClr val="0D1B2A"/>
                </a:solidFill>
                <a:latin typeface="IBM Plex Sans Arabic"/>
                <a:cs typeface="IBM Plex Sans Arabic"/>
              </a:rPr>
              <a:t>اختر مركبتك ومسارك.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474747"/>
                </a:solidFill>
                <a:latin typeface="IBM Plex Sans"/>
                <a:cs typeface="IBM Plex Sans"/>
              </a:rPr>
              <a:t>Select your vehicle and route.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520439"/>
            <a:ext cx="566928" cy="566928"/>
          </a:xfrm>
          <a:prstGeom prst="round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20439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 i="0">
                <a:solidFill>
                  <a:srgbClr val="1B4332"/>
                </a:solidFill>
                <a:latin typeface="IBM Plex Sans"/>
                <a:cs typeface="IBM Plex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3483863"/>
            <a:ext cx="9555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spcBef>
                <a:spcPts val="200"/>
              </a:spcBef>
              <a:spcAft>
                <a:spcPts val="100"/>
              </a:spcAft>
            </a:pPr>
            <a:r>
              <a:rPr sz="1400" b="1" i="0">
                <a:solidFill>
                  <a:srgbClr val="0D1B2A"/>
                </a:solidFill>
                <a:latin typeface="IBM Plex Sans Arabic"/>
                <a:cs typeface="IBM Plex Sans Arabic"/>
              </a:rPr>
              <a:t>اضغط «بدء الرحلة» — يبدأ إرسال الموقع تلقائياً.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474747"/>
                </a:solidFill>
                <a:latin typeface="IBM Plex Sans"/>
                <a:cs typeface="IBM Plex Sans"/>
              </a:rPr>
              <a:t>Tap “Start trip” — GPS begins sharing automatically.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389120"/>
            <a:ext cx="566928" cy="566928"/>
          </a:xfrm>
          <a:prstGeom prst="round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389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 i="0">
                <a:solidFill>
                  <a:srgbClr val="1B4332"/>
                </a:solidFill>
                <a:latin typeface="IBM Plex Sans"/>
                <a:cs typeface="IBM Plex Sa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4352544"/>
            <a:ext cx="9555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spcBef>
                <a:spcPts val="200"/>
              </a:spcBef>
              <a:spcAft>
                <a:spcPts val="100"/>
              </a:spcAft>
            </a:pPr>
            <a:r>
              <a:rPr sz="1400" b="1" i="0">
                <a:solidFill>
                  <a:srgbClr val="0D1B2A"/>
                </a:solidFill>
                <a:latin typeface="IBM Plex Sans Arabic"/>
                <a:cs typeface="IBM Plex Sans Arabic"/>
              </a:rPr>
              <a:t>بلّغ عن حادثة بثلاث ضغطات (نوع ← ملاحظة ← تأكيد).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474747"/>
                </a:solidFill>
                <a:latin typeface="IBM Plex Sans"/>
                <a:cs typeface="IBM Plex Sans"/>
              </a:rPr>
              <a:t>Report an incident in 3 taps (type → note → confirm).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257800"/>
            <a:ext cx="566928" cy="566928"/>
          </a:xfrm>
          <a:prstGeom prst="round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2578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 i="0">
                <a:solidFill>
                  <a:srgbClr val="1B4332"/>
                </a:solidFill>
                <a:latin typeface="IBM Plex Sans"/>
                <a:cs typeface="IBM Plex San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5221224"/>
            <a:ext cx="9555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spcBef>
                <a:spcPts val="200"/>
              </a:spcBef>
              <a:spcAft>
                <a:spcPts val="100"/>
              </a:spcAft>
            </a:pPr>
            <a:r>
              <a:rPr sz="1400" b="1" i="0">
                <a:solidFill>
                  <a:srgbClr val="0D1B2A"/>
                </a:solidFill>
                <a:latin typeface="IBM Plex Sans Arabic"/>
                <a:cs typeface="IBM Plex Sans Arabic"/>
              </a:rPr>
              <a:t>اضغط «إنهاء الرحلة» لرؤية ملخّص الوردية.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474747"/>
                </a:solidFill>
                <a:latin typeface="IBM Plex Sans"/>
                <a:cs typeface="IBM Plex Sans"/>
              </a:rPr>
              <a:t>Tap “End trip” to see your shift summary.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20040" cy="1463040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4600" b="1" i="0">
                <a:solidFill>
                  <a:srgbClr val="C4B47E"/>
                </a:solidFill>
                <a:latin typeface="IBM Plex Sans"/>
                <a:cs typeface="IBM Plex Sans"/>
              </a:rPr>
              <a:t>02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3000" b="1" i="0">
                <a:solidFill>
                  <a:srgbClr val="F9F6EF"/>
                </a:solidFill>
                <a:latin typeface="IBM Plex Sans Arabic"/>
                <a:cs typeface="IBM Plex Sans Arabic"/>
              </a:rPr>
              <a:t>المشغّل / المرسل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1" i="0">
                <a:solidFill>
                  <a:srgbClr val="D9D5CC"/>
                </a:solidFill>
                <a:latin typeface="IBM Plex Sans"/>
                <a:cs typeface="IBM Plex Sans"/>
              </a:rPr>
              <a:t>The Operator / Dispatcher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الخريطة الحيّة وإدارة الأسطول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Live Map &amp; Fleet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9728" cy="162763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عرض مباشر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See every vehicle live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All vehicles on one map, refreshing every few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78308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9632" y="1783080"/>
            <a:ext cx="109728" cy="1627632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47672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حالة المركبة بالألوان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Status by color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Green = active, amber = idle, red = offline.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703320"/>
            <a:ext cx="109728" cy="162763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867911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بحث وتصفية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Search &amp; filter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Filter by route or operator; find any vehicle fast.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370332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3703320"/>
            <a:ext cx="109728" cy="1627632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3867911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تفاصيل المركبة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Vehicle details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Click a vehicle for speed, route, driver, and history.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التنبيهات والإرسال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Alerts &amp; Dispatch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9728" cy="1627632"/>
          </a:xfrm>
          <a:prstGeom prst="rect">
            <a:avLst/>
          </a:prstGeom>
          <a:solidFill>
            <a:srgbClr val="E8A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تنبيه الانحراف عن المسار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Route-deviation alerts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Automatic alert when a vehicle leaves its assigned route.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78308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9632" y="1783080"/>
            <a:ext cx="109728" cy="16276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47672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نداء الطوارئ (SOS)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Emergency (SOS) alerts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Driver panic alerts appear with live location.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703320"/>
            <a:ext cx="109728" cy="162763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867911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معالجة التنبيهات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Acknowledge &amp; resolve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Review, resolve, and log every alert.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370332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3703320"/>
            <a:ext cx="109728" cy="1627632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3867911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إضافة/إزالة المركبات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Add / remove vehicles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Manage the fleet without any technical help.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20040" cy="1463040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4600" b="1" i="0">
                <a:solidFill>
                  <a:srgbClr val="C4B47E"/>
                </a:solidFill>
                <a:latin typeface="IBM Plex Sans"/>
                <a:cs typeface="IBM Plex Sans"/>
              </a:rPr>
              <a:t>03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3000" b="1" i="0">
                <a:solidFill>
                  <a:srgbClr val="F9F6EF"/>
                </a:solidFill>
                <a:latin typeface="IBM Plex Sans Arabic"/>
                <a:cs typeface="IBM Plex Sans Arabic"/>
              </a:rPr>
              <a:t>مشرف الوزارة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1" i="0">
                <a:solidFill>
                  <a:srgbClr val="D9D5CC"/>
                </a:solidFill>
                <a:latin typeface="IBM Plex Sans"/>
                <a:cs typeface="IBM Plex Sans"/>
              </a:rPr>
              <a:t>The Ministry Administrator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لوحة التحليلات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Analytics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9728" cy="162763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استخدام الأسطول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Fleet utilization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Vehicles active by route, hour, and operator.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78308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9632" y="1783080"/>
            <a:ext cx="109728" cy="1627632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47672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الالتزام بالمواعيد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On-time performance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On-time rates and delay patterns over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703320"/>
            <a:ext cx="109728" cy="162763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867911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خريطة الازدحام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Congestion heatmap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Where and when demand and congestion peak.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370332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3703320"/>
            <a:ext cx="109728" cy="1627632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3867911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الرحلات التاريخية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Historical trips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Query past trips to plan and optimize routes.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الامتثال والتقارير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Compliance &amp; Reports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9728" cy="162763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مراقبة الالتزام بالمسار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Route-compliance monitoring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See which vehicles follow their assigned routes.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78308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9632" y="1783080"/>
            <a:ext cx="109728" cy="1627632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47672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تقرير شهري (PDF)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Monthly report (PDF)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Performance report in Arabic &amp; English each month.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703320"/>
            <a:ext cx="109728" cy="162763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867911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تصدير GTFS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GTFS export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Publish Damascus transit to Google &amp; Apple Maps.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370332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3703320"/>
            <a:ext cx="109728" cy="1627632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3867911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سجلّ التدقيق والصلاحيات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Audit log &amp; roles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Every action logged; access by role.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تطبيق الركّاب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The Passenger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9728" cy="162763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أوقات الوصول الحيّة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Live arrival times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Know exactly when the next vehicle arrives.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78308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9632" y="1783080"/>
            <a:ext cx="109728" cy="1627632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47672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أقرب موقف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Nearest stop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Find the closest stop by GPS.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703320"/>
            <a:ext cx="109728" cy="162763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867911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مخطّط الرحلة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Trip planner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Plan a journey with fares, in Arabic or English.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370332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3703320"/>
            <a:ext cx="109728" cy="1627632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3867911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بدون تحميل (PWA)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No download (PWA)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Opens in any browser; scan a QR at the stop.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الأدوار والصلاحيات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Roles &amp; Access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881359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3899"/>
                <a:gridCol w="3264408"/>
                <a:gridCol w="5223052"/>
              </a:tblGrid>
              <a:tr h="457200"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1">
                          <a:solidFill>
                            <a:srgbClr val="F9F6EF"/>
                          </a:solidFill>
                          <a:latin typeface="IBM Plex Sans Arabic"/>
                          <a:cs typeface="IBM Plex Sans Arabic"/>
                        </a:rPr>
                        <a:t>الدور / Role</a:t>
                      </a:r>
                    </a:p>
                  </a:txBody>
                  <a:tcPr marL="82296" marR="82296" marT="18288" marB="18288" anchor="ctr">
                    <a:solidFill>
                      <a:srgbClr val="1B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1">
                          <a:solidFill>
                            <a:srgbClr val="F9F6EF"/>
                          </a:solidFill>
                          <a:latin typeface="IBM Plex Sans Arabic"/>
                          <a:cs typeface="IBM Plex Sans Arabic"/>
                        </a:rPr>
                        <a:t>يرى / Sees</a:t>
                      </a:r>
                    </a:p>
                  </a:txBody>
                  <a:tcPr marL="82296" marR="82296" marT="18288" marB="18288" anchor="ctr">
                    <a:solidFill>
                      <a:srgbClr val="1B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1">
                          <a:solidFill>
                            <a:srgbClr val="F9F6EF"/>
                          </a:solidFill>
                          <a:latin typeface="IBM Plex Sans Arabic"/>
                          <a:cs typeface="IBM Plex Sans Arabic"/>
                        </a:rPr>
                        <a:t>يستطيع / Can do</a:t>
                      </a:r>
                    </a:p>
                  </a:txBody>
                  <a:tcPr marL="82296" marR="82296" marT="18288" marB="18288" anchor="ctr">
                    <a:solidFill>
                      <a:srgbClr val="1B43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مشرف / Admin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كل شيء / Everything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إدارة المستخدمين والإعدادات والتقارير / Manage users, settings, reports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مرسل / Dispatcher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أسطول مشغّله / Their fleet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الخريطة، التنبيهات، المركبات / Live map, alerts, vehicles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سائق / Driver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رحلته فقط / Own trips only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بدء/إنهاء الرحلة، التبليغ / Start/end trip, report incidents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مطّلع / Viewer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لوحات للقراءة / Read-only views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الاطّلاع دون تعديل / View dashboards, no edits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300"/>
              </a:spcAft>
            </a:pPr>
            <a:r>
              <a:rPr sz="2800" b="1" i="0">
                <a:solidFill>
                  <a:srgbClr val="F9F6EF"/>
                </a:solidFill>
                <a:latin typeface="IBM Plex Sans Arabic"/>
                <a:cs typeface="IBM Plex Sans Arabic"/>
              </a:rPr>
              <a:t>البدء والدعم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000" b="1" i="0">
                <a:solidFill>
                  <a:srgbClr val="C4B47E"/>
                </a:solidFill>
                <a:latin typeface="IBM Plex Sans"/>
                <a:cs typeface="IBM Plex Sans"/>
              </a:rPr>
              <a:t>Getting Started &amp;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8328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800"/>
              </a:spcAft>
            </a:pPr>
            <a:r>
              <a:rPr sz="1300" b="0" i="0">
                <a:solidFill>
                  <a:srgbClr val="EDEAE2"/>
                </a:solidFill>
                <a:latin typeface="IBM Plex Sans Arabic"/>
                <a:cs typeface="IBM Plex Sans Arabic"/>
              </a:rPr>
              <a:t>التركيب والتدريب يقوم بهما فريق دمشق ترانزيت — 4 جلسات تدريب بالعربية ضمن البرنامج التجريبي.  •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0" i="0">
                <a:solidFill>
                  <a:srgbClr val="EDEAE2"/>
                </a:solidFill>
                <a:latin typeface="IBM Plex Sans"/>
                <a:cs typeface="IBM Plex Sans"/>
              </a:rPr>
              <a:t>•  Installation and training are handled by the DAM team — 4 Arabic training sessions included in the pilot.</a:t>
            </a:r>
          </a:p>
          <a:p>
            <a:pPr algn="r" rtl="1">
              <a:spcBef>
                <a:spcPts val="200"/>
              </a:spcBef>
              <a:spcAft>
                <a:spcPts val="800"/>
              </a:spcAft>
            </a:pPr>
            <a:r>
              <a:rPr sz="1300" b="0" i="0">
                <a:solidFill>
                  <a:srgbClr val="EDEAE2"/>
                </a:solidFill>
                <a:latin typeface="IBM Plex Sans Arabic"/>
                <a:cs typeface="IBM Plex Sans Arabic"/>
              </a:rPr>
              <a:t>الدعم عبر الهاتف وواتساب طوال فترة التشغيل.  •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0" i="0">
                <a:solidFill>
                  <a:srgbClr val="EDEAE2"/>
                </a:solidFill>
                <a:latin typeface="IBM Plex Sans"/>
                <a:cs typeface="IBM Plex Sans"/>
              </a:rPr>
              <a:t>•  Support by phone and WhatsApp throughout operation.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0" i="0">
                <a:solidFill>
                  <a:srgbClr val="EDEAE2"/>
                </a:solidFill>
                <a:latin typeface="IBM Plex Sans"/>
                <a:cs typeface="IBM Plex Sans"/>
              </a:rPr>
              <a:t>•  ministry@damascustransit.com   ·   damascustransit.com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