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43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548640"/>
            <a:ext cx="1143000" cy="1143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0080" y="2286000"/>
            <a:ext cx="1097280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spcBef>
                <a:spcPts val="200"/>
              </a:spcBef>
              <a:spcAft>
                <a:spcPts val="400"/>
              </a:spcAft>
            </a:pPr>
            <a:r>
              <a:rPr sz="4000" b="1" i="0">
                <a:solidFill>
                  <a:srgbClr val="F9F6EF"/>
                </a:solidFill>
                <a:latin typeface="IBM Plex Sans Arabic"/>
                <a:cs typeface="IBM Plex Sans Arabic"/>
              </a:rPr>
              <a:t>دمشق ترانزيت</a:t>
            </a:r>
          </a:p>
          <a:p>
            <a:pPr>
              <a:spcBef>
                <a:spcPts val="200"/>
              </a:spcBef>
              <a:spcAft>
                <a:spcPts val="1000"/>
              </a:spcAft>
            </a:pPr>
            <a:r>
              <a:rPr sz="3000" b="1" i="0">
                <a:solidFill>
                  <a:srgbClr val="C4B47E"/>
                </a:solidFill>
                <a:latin typeface="IBM Plex Sans"/>
                <a:cs typeface="IBM Plex Sans"/>
              </a:rPr>
              <a:t>Damascus Transit Technologies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663440"/>
            <a:ext cx="109728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spcBef>
                <a:spcPts val="200"/>
              </a:spcBef>
              <a:spcAft>
                <a:spcPts val="200"/>
              </a:spcAft>
            </a:pPr>
            <a:r>
              <a:rPr sz="1600" b="0" i="0">
                <a:solidFill>
                  <a:srgbClr val="F9F6EF"/>
                </a:solidFill>
                <a:latin typeface="IBM Plex Sans Arabic"/>
                <a:cs typeface="IBM Plex Sans Arabic"/>
              </a:rPr>
              <a:t>أول منصة لإدارة أساطيل النقل العام بالتتبّع اللحظي في سورية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400" b="0" i="0">
                <a:solidFill>
                  <a:srgbClr val="D9D5CC"/>
                </a:solidFill>
                <a:latin typeface="IBM Plex Sans"/>
                <a:cs typeface="IBM Plex Sans"/>
              </a:rPr>
              <a:t>Syria's first real-time public-transport fleet management platform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12648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100" b="0" i="0">
                <a:solidFill>
                  <a:srgbClr val="C4B47E"/>
                </a:solidFill>
                <a:latin typeface="IBM Plex Sans"/>
                <a:cs typeface="IBM Plex Sans"/>
              </a:rPr>
              <a:t>عرض إلى وزارة النقل — سرّي   ·   Presentation to the Ministry of Transport — Confidential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6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72800" cy="1051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spcBef>
                <a:spcPts val="200"/>
              </a:spcBef>
              <a:spcAft>
                <a:spcPts val="100"/>
              </a:spcAft>
            </a:pPr>
            <a:r>
              <a:rPr sz="2200" b="1" i="0">
                <a:solidFill>
                  <a:srgbClr val="1B4332"/>
                </a:solidFill>
                <a:latin typeface="IBM Plex Sans Arabic"/>
                <a:cs typeface="IBM Plex Sans Arabic"/>
              </a:rPr>
              <a:t>المشكلة: أزمة النقل في دمشق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600" b="1" i="0">
                <a:solidFill>
                  <a:srgbClr val="7A7060"/>
                </a:solidFill>
                <a:latin typeface="IBM Plex Sans"/>
                <a:cs typeface="IBM Plex Sans"/>
              </a:rPr>
              <a:t>The Problem: Damascus Transport in Crisis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40"/>
            <a:ext cx="274320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200"/>
              </a:spcBef>
              <a:spcAft>
                <a:spcPts val="100"/>
              </a:spcAft>
            </a:pPr>
            <a:r>
              <a:rPr sz="4000" b="1" i="0">
                <a:solidFill>
                  <a:srgbClr val="1B4332"/>
                </a:solidFill>
                <a:latin typeface="IBM Plex Sans"/>
                <a:cs typeface="IBM Plex Sans"/>
              </a:rPr>
              <a:t>2.5M</a:t>
            </a:r>
          </a:p>
          <a:p>
            <a:pPr algn="l" rtl="1">
              <a:spcBef>
                <a:spcPts val="200"/>
              </a:spcBef>
              <a:spcAft>
                <a:spcPts val="0"/>
              </a:spcAft>
            </a:pPr>
            <a:r>
              <a:rPr sz="1250" b="1" i="0">
                <a:solidFill>
                  <a:srgbClr val="0D1B2A"/>
                </a:solidFill>
                <a:latin typeface="IBM Plex Sans Arabic"/>
                <a:cs typeface="IBM Plex Sans Arabic"/>
              </a:rPr>
              <a:t>راكب يومياً</a:t>
            </a:r>
          </a:p>
          <a:p>
            <a:pPr algn="l">
              <a:spcBef>
                <a:spcPts val="200"/>
              </a:spcBef>
              <a:spcAft>
                <a:spcPts val="0"/>
              </a:spcAft>
            </a:pPr>
            <a:r>
              <a:rPr sz="1050" b="0" i="0">
                <a:solidFill>
                  <a:srgbClr val="7A7060"/>
                </a:solidFill>
                <a:latin typeface="IBM Plex Sans"/>
                <a:cs typeface="IBM Plex Sans"/>
              </a:rPr>
              <a:t>daily commuters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520440" y="1691640"/>
            <a:ext cx="274320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200"/>
              </a:spcBef>
              <a:spcAft>
                <a:spcPts val="100"/>
              </a:spcAft>
            </a:pPr>
            <a:r>
              <a:rPr sz="4000" b="1" i="0">
                <a:solidFill>
                  <a:srgbClr val="C0392B"/>
                </a:solidFill>
                <a:latin typeface="IBM Plex Sans"/>
                <a:cs typeface="IBM Plex Sans"/>
              </a:rPr>
              <a:t>45 min</a:t>
            </a:r>
          </a:p>
          <a:p>
            <a:pPr algn="l" rtl="1">
              <a:spcBef>
                <a:spcPts val="200"/>
              </a:spcBef>
              <a:spcAft>
                <a:spcPts val="0"/>
              </a:spcAft>
            </a:pPr>
            <a:r>
              <a:rPr sz="1250" b="1" i="0">
                <a:solidFill>
                  <a:srgbClr val="0D1B2A"/>
                </a:solidFill>
                <a:latin typeface="IBM Plex Sans Arabic"/>
                <a:cs typeface="IBM Plex Sans Arabic"/>
              </a:rPr>
              <a:t>متوسط الانتظار</a:t>
            </a:r>
          </a:p>
          <a:p>
            <a:pPr algn="l">
              <a:spcBef>
                <a:spcPts val="200"/>
              </a:spcBef>
              <a:spcAft>
                <a:spcPts val="0"/>
              </a:spcAft>
            </a:pPr>
            <a:r>
              <a:rPr sz="1050" b="0" i="0">
                <a:solidFill>
                  <a:srgbClr val="7A7060"/>
                </a:solidFill>
                <a:latin typeface="IBM Plex Sans"/>
                <a:cs typeface="IBM Plex Sans"/>
              </a:rPr>
              <a:t>average wait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691640"/>
            <a:ext cx="274320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200"/>
              </a:spcBef>
              <a:spcAft>
                <a:spcPts val="100"/>
              </a:spcAft>
            </a:pPr>
            <a:r>
              <a:rPr sz="4000" b="1" i="0">
                <a:solidFill>
                  <a:srgbClr val="E8A045"/>
                </a:solidFill>
                <a:latin typeface="IBM Plex Sans"/>
                <a:cs typeface="IBM Plex Sans"/>
              </a:rPr>
              <a:t>~30%</a:t>
            </a:r>
          </a:p>
          <a:p>
            <a:pPr algn="l" rtl="1">
              <a:spcBef>
                <a:spcPts val="200"/>
              </a:spcBef>
              <a:spcAft>
                <a:spcPts val="0"/>
              </a:spcAft>
            </a:pPr>
            <a:r>
              <a:rPr sz="1250" b="1" i="0">
                <a:solidFill>
                  <a:srgbClr val="0D1B2A"/>
                </a:solidFill>
                <a:latin typeface="IBM Plex Sans Arabic"/>
                <a:cs typeface="IBM Plex Sans Arabic"/>
              </a:rPr>
              <a:t>تخلّوا عن النقل</a:t>
            </a:r>
          </a:p>
          <a:p>
            <a:pPr algn="l">
              <a:spcBef>
                <a:spcPts val="200"/>
              </a:spcBef>
              <a:spcAft>
                <a:spcPts val="0"/>
              </a:spcAft>
            </a:pPr>
            <a:r>
              <a:rPr sz="1050" b="0" i="0">
                <a:solidFill>
                  <a:srgbClr val="7A7060"/>
                </a:solidFill>
                <a:latin typeface="IBM Plex Sans"/>
                <a:cs typeface="IBM Plex Sans"/>
              </a:rPr>
              <a:t>abandoned transit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235440" y="1691640"/>
            <a:ext cx="274320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200"/>
              </a:spcBef>
              <a:spcAft>
                <a:spcPts val="100"/>
              </a:spcAft>
            </a:pPr>
            <a:r>
              <a:rPr sz="4000" b="1" i="0">
                <a:solidFill>
                  <a:srgbClr val="E8A045"/>
                </a:solidFill>
                <a:latin typeface="IBM Plex Sans"/>
                <a:cs typeface="IBM Plex Sans"/>
              </a:rPr>
              <a:t>~60%</a:t>
            </a:r>
          </a:p>
          <a:p>
            <a:pPr algn="l" rtl="1">
              <a:spcBef>
                <a:spcPts val="200"/>
              </a:spcBef>
              <a:spcAft>
                <a:spcPts val="0"/>
              </a:spcAft>
            </a:pPr>
            <a:r>
              <a:rPr sz="1250" b="1" i="0">
                <a:solidFill>
                  <a:srgbClr val="0D1B2A"/>
                </a:solidFill>
                <a:latin typeface="IBM Plex Sans Arabic"/>
                <a:cs typeface="IBM Plex Sans Arabic"/>
              </a:rPr>
              <a:t>انحراف عن المسار</a:t>
            </a:r>
          </a:p>
          <a:p>
            <a:pPr algn="l">
              <a:spcBef>
                <a:spcPts val="200"/>
              </a:spcBef>
              <a:spcAft>
                <a:spcPts val="0"/>
              </a:spcAft>
            </a:pPr>
            <a:r>
              <a:rPr sz="1050" b="0" i="0">
                <a:solidFill>
                  <a:srgbClr val="7A7060"/>
                </a:solidFill>
                <a:latin typeface="IBM Plex Sans"/>
                <a:cs typeface="IBM Plex Sans"/>
              </a:rPr>
              <a:t>route deviation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566160"/>
            <a:ext cx="1097280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spcBef>
                <a:spcPts val="200"/>
              </a:spcBef>
              <a:spcAft>
                <a:spcPts val="700"/>
              </a:spcAft>
            </a:pPr>
            <a:r>
              <a:rPr sz="1300" b="0" i="0">
                <a:solidFill>
                  <a:srgbClr val="333333"/>
                </a:solidFill>
                <a:latin typeface="IBM Plex Sans Arabic"/>
                <a:cs typeface="IBM Plex Sans Arabic"/>
              </a:rPr>
              <a:t>لا يوجد تتبّع GPS لأي مركبة عامة — المشغّلون يديرون أساطيلهم على الورق.  •</a:t>
            </a:r>
          </a:p>
          <a:p>
            <a:pPr>
              <a:spcBef>
                <a:spcPts val="200"/>
              </a:spcBef>
              <a:spcAft>
                <a:spcPts val="700"/>
              </a:spcAft>
            </a:pPr>
            <a:r>
              <a:rPr sz="1300" b="0" i="0">
                <a:solidFill>
                  <a:srgbClr val="333333"/>
                </a:solidFill>
                <a:latin typeface="IBM Plex Sans"/>
                <a:cs typeface="IBM Plex Sans"/>
              </a:rPr>
              <a:t>•  No GPS on any public vehicle — operators run fleets on paper.</a:t>
            </a:r>
          </a:p>
          <a:p>
            <a:pPr algn="r" rtl="1">
              <a:spcBef>
                <a:spcPts val="200"/>
              </a:spcBef>
              <a:spcAft>
                <a:spcPts val="700"/>
              </a:spcAft>
            </a:pPr>
            <a:r>
              <a:rPr sz="1300" b="0" i="0">
                <a:solidFill>
                  <a:srgbClr val="333333"/>
                </a:solidFill>
                <a:latin typeface="IBM Plex Sans Arabic"/>
                <a:cs typeface="IBM Plex Sans Arabic"/>
              </a:rPr>
              <a:t>لا جداول ولا أوقات وصول للركّاب، والوزارة بلا أي بيانات لاتخاذ القرار.  •</a:t>
            </a:r>
          </a:p>
          <a:p>
            <a:pPr>
              <a:spcBef>
                <a:spcPts val="200"/>
              </a:spcBef>
              <a:spcAft>
                <a:spcPts val="700"/>
              </a:spcAft>
            </a:pPr>
            <a:r>
              <a:rPr sz="1300" b="0" i="0">
                <a:solidFill>
                  <a:srgbClr val="333333"/>
                </a:solidFill>
                <a:latin typeface="IBM Plex Sans"/>
                <a:cs typeface="IBM Plex Sans"/>
              </a:rPr>
              <a:t>•  No schedules or arrival times for passengers, and the Ministry has no data to plan with.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6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72800" cy="1051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spcBef>
                <a:spcPts val="200"/>
              </a:spcBef>
              <a:spcAft>
                <a:spcPts val="100"/>
              </a:spcAft>
            </a:pPr>
            <a:r>
              <a:rPr sz="2200" b="1" i="0">
                <a:solidFill>
                  <a:srgbClr val="1B4332"/>
                </a:solidFill>
                <a:latin typeface="IBM Plex Sans Arabic"/>
                <a:cs typeface="IBM Plex Sans Arabic"/>
              </a:rPr>
              <a:t>الفرصة: سوق بكر بلا منافس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600" b="1" i="0">
                <a:solidFill>
                  <a:srgbClr val="7A7060"/>
                </a:solidFill>
                <a:latin typeface="IBM Plex Sans"/>
                <a:cs typeface="IBM Plex Sans"/>
              </a:rPr>
              <a:t>The Opportunity: A Greenfield Market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45920"/>
            <a:ext cx="292608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200"/>
              </a:spcBef>
              <a:spcAft>
                <a:spcPts val="100"/>
              </a:spcAft>
            </a:pPr>
            <a:r>
              <a:rPr sz="4000" b="1" i="0">
                <a:solidFill>
                  <a:srgbClr val="1B4332"/>
                </a:solidFill>
                <a:latin typeface="IBM Plex Sans"/>
                <a:cs typeface="IBM Plex Sans"/>
              </a:rPr>
              <a:t>6,000+</a:t>
            </a:r>
          </a:p>
          <a:p>
            <a:pPr algn="l" rtl="1">
              <a:spcBef>
                <a:spcPts val="200"/>
              </a:spcBef>
              <a:spcAft>
                <a:spcPts val="0"/>
              </a:spcAft>
            </a:pPr>
            <a:r>
              <a:rPr sz="1250" b="1" i="0">
                <a:solidFill>
                  <a:srgbClr val="0D1B2A"/>
                </a:solidFill>
                <a:latin typeface="IBM Plex Sans Arabic"/>
                <a:cs typeface="IBM Plex Sans Arabic"/>
              </a:rPr>
              <a:t>مركبة نقل عام</a:t>
            </a:r>
          </a:p>
          <a:p>
            <a:pPr algn="l">
              <a:spcBef>
                <a:spcPts val="200"/>
              </a:spcBef>
              <a:spcAft>
                <a:spcPts val="0"/>
              </a:spcAft>
            </a:pPr>
            <a:r>
              <a:rPr sz="1050" b="0" i="0">
                <a:solidFill>
                  <a:srgbClr val="7A7060"/>
                </a:solidFill>
                <a:latin typeface="IBM Plex Sans"/>
                <a:cs typeface="IBM Plex Sans"/>
              </a:rPr>
              <a:t>public vehicles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931920" y="1645920"/>
            <a:ext cx="292608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200"/>
              </a:spcBef>
              <a:spcAft>
                <a:spcPts val="100"/>
              </a:spcAft>
            </a:pPr>
            <a:r>
              <a:rPr sz="4000" b="1" i="0">
                <a:solidFill>
                  <a:srgbClr val="C4B47E"/>
                </a:solidFill>
                <a:latin typeface="IBM Plex Sans"/>
                <a:cs typeface="IBM Plex Sans"/>
              </a:rPr>
              <a:t>200+</a:t>
            </a:r>
          </a:p>
          <a:p>
            <a:pPr algn="l" rtl="1">
              <a:spcBef>
                <a:spcPts val="200"/>
              </a:spcBef>
              <a:spcAft>
                <a:spcPts val="0"/>
              </a:spcAft>
            </a:pPr>
            <a:r>
              <a:rPr sz="1250" b="1" i="0">
                <a:solidFill>
                  <a:srgbClr val="0D1B2A"/>
                </a:solidFill>
                <a:latin typeface="IBM Plex Sans Arabic"/>
                <a:cs typeface="IBM Plex Sans Arabic"/>
              </a:rPr>
              <a:t>مشغّل خاص</a:t>
            </a:r>
          </a:p>
          <a:p>
            <a:pPr algn="l">
              <a:spcBef>
                <a:spcPts val="200"/>
              </a:spcBef>
              <a:spcAft>
                <a:spcPts val="0"/>
              </a:spcAft>
            </a:pPr>
            <a:r>
              <a:rPr sz="1050" b="0" i="0">
                <a:solidFill>
                  <a:srgbClr val="7A7060"/>
                </a:solidFill>
                <a:latin typeface="IBM Plex Sans"/>
                <a:cs typeface="IBM Plex Sans"/>
              </a:rPr>
              <a:t>private operators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23760" y="1645920"/>
            <a:ext cx="310896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200"/>
              </a:spcBef>
              <a:spcAft>
                <a:spcPts val="100"/>
              </a:spcAft>
            </a:pPr>
            <a:r>
              <a:rPr sz="4000" b="1" i="0">
                <a:solidFill>
                  <a:srgbClr val="C0392B"/>
                </a:solidFill>
                <a:latin typeface="IBM Plex Sans"/>
                <a:cs typeface="IBM Plex Sans"/>
              </a:rPr>
              <a:t>$0</a:t>
            </a:r>
          </a:p>
          <a:p>
            <a:pPr algn="l" rtl="1">
              <a:spcBef>
                <a:spcPts val="200"/>
              </a:spcBef>
              <a:spcAft>
                <a:spcPts val="0"/>
              </a:spcAft>
            </a:pPr>
            <a:r>
              <a:rPr sz="1250" b="1" i="0">
                <a:solidFill>
                  <a:srgbClr val="0D1B2A"/>
                </a:solidFill>
                <a:latin typeface="IBM Plex Sans Arabic"/>
                <a:cs typeface="IBM Plex Sans Arabic"/>
              </a:rPr>
              <a:t>إنفاق رقمي اليوم</a:t>
            </a:r>
          </a:p>
          <a:p>
            <a:pPr algn="l">
              <a:spcBef>
                <a:spcPts val="200"/>
              </a:spcBef>
              <a:spcAft>
                <a:spcPts val="0"/>
              </a:spcAft>
            </a:pPr>
            <a:r>
              <a:rPr sz="1050" b="0" i="0">
                <a:solidFill>
                  <a:srgbClr val="7A7060"/>
                </a:solidFill>
                <a:latin typeface="IBM Plex Sans"/>
                <a:cs typeface="IBM Plex Sans"/>
              </a:rPr>
              <a:t>spent on digital today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063240"/>
            <a:ext cx="10972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500" b="1" i="0">
                <a:solidFill>
                  <a:srgbClr val="1B4332"/>
                </a:solidFill>
                <a:latin typeface="IBM Plex Sans Arabic"/>
                <a:cs typeface="IBM Plex Sans Arabic"/>
              </a:rPr>
              <a:t>لماذا الآن؟   ·   Why now?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611880"/>
            <a:ext cx="1097280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spcBef>
                <a:spcPts val="200"/>
              </a:spcBef>
              <a:spcAft>
                <a:spcPts val="600"/>
              </a:spcAft>
            </a:pPr>
            <a:r>
              <a:rPr sz="1250" b="0" i="0">
                <a:solidFill>
                  <a:srgbClr val="333333"/>
                </a:solidFill>
                <a:latin typeface="IBM Plex Sans Arabic"/>
                <a:cs typeface="IBM Plex Sans Arabic"/>
              </a:rPr>
              <a:t>رفع العقوبات الأمريكية والأوروبية (2025) وإلغاء قانون قيصر (ديسمبر 2025).  •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250" b="0" i="0">
                <a:solidFill>
                  <a:srgbClr val="333333"/>
                </a:solidFill>
                <a:latin typeface="IBM Plex Sans"/>
                <a:cs typeface="IBM Plex Sans"/>
              </a:rPr>
              <a:t>•  US &amp; EU sanctions lifted (2025); Caesar Act repealed (Dec 2025).</a:t>
            </a:r>
          </a:p>
          <a:p>
            <a:pPr algn="r" rtl="1">
              <a:spcBef>
                <a:spcPts val="200"/>
              </a:spcBef>
              <a:spcAft>
                <a:spcPts val="600"/>
              </a:spcAft>
            </a:pPr>
            <a:r>
              <a:rPr sz="1250" b="0" i="0">
                <a:solidFill>
                  <a:srgbClr val="333333"/>
                </a:solidFill>
                <a:latin typeface="IBM Plex Sans Arabic"/>
                <a:cs typeface="IBM Plex Sans Arabic"/>
              </a:rPr>
              <a:t>تخصيص البنك الدولي 50 مليون دولار لقطاع النقل في سورية + تفويض الوزارة بالتحديث.  •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250" b="0" i="0">
                <a:solidFill>
                  <a:srgbClr val="333333"/>
                </a:solidFill>
                <a:latin typeface="IBM Plex Sans"/>
                <a:cs typeface="IBM Plex Sans"/>
              </a:rPr>
              <a:t>•  World Bank $50M Syria transport allocation + Ministry modernization mandate.</a:t>
            </a:r>
          </a:p>
          <a:p>
            <a:pPr algn="r" rtl="1">
              <a:spcBef>
                <a:spcPts val="200"/>
              </a:spcBef>
              <a:spcAft>
                <a:spcPts val="600"/>
              </a:spcAft>
            </a:pPr>
            <a:r>
              <a:rPr sz="1250" b="0" i="0">
                <a:solidFill>
                  <a:srgbClr val="333333"/>
                </a:solidFill>
                <a:latin typeface="IBM Plex Sans Arabic"/>
                <a:cs typeface="IBM Plex Sans Arabic"/>
              </a:rPr>
              <a:t>تغطية الجيل الرابع مستقرة في دمشق (سيرياتيل و MTN) — البنية جاهزة.  •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250" b="0" i="0">
                <a:solidFill>
                  <a:srgbClr val="333333"/>
                </a:solidFill>
                <a:latin typeface="IBM Plex Sans"/>
                <a:cs typeface="IBM Plex Sans"/>
              </a:rPr>
              <a:t>•  Stable 4G across Damascus (Syriatel &amp; MTN) — the connectivity is ready.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6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72800" cy="1051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spcBef>
                <a:spcPts val="200"/>
              </a:spcBef>
              <a:spcAft>
                <a:spcPts val="100"/>
              </a:spcAft>
            </a:pPr>
            <a:r>
              <a:rPr sz="2200" b="1" i="0">
                <a:solidFill>
                  <a:srgbClr val="1B4332"/>
                </a:solidFill>
                <a:latin typeface="IBM Plex Sans Arabic"/>
                <a:cs typeface="IBM Plex Sans Arabic"/>
              </a:rPr>
              <a:t>الحل: منصّة دمشق ترانزيت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600" b="1" i="0">
                <a:solidFill>
                  <a:srgbClr val="7A7060"/>
                </a:solidFill>
                <a:latin typeface="IBM Plex Sans"/>
                <a:cs typeface="IBM Plex Sans"/>
              </a:rPr>
              <a:t>The Solution: The DAM Platform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783080"/>
            <a:ext cx="3383280" cy="1600200"/>
          </a:xfrm>
          <a:prstGeom prst="roundRect">
            <a:avLst/>
          </a:prstGeom>
          <a:solidFill>
            <a:srgbClr val="F9F6EF"/>
          </a:solidFill>
          <a:ln w="12700">
            <a:solidFill>
              <a:srgbClr val="E3E0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783080"/>
            <a:ext cx="109728" cy="1600200"/>
          </a:xfrm>
          <a:prstGeom prst="rect">
            <a:avLst/>
          </a:prstGeom>
          <a:solidFill>
            <a:srgbClr val="1B43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96112" y="1947672"/>
            <a:ext cx="2971800" cy="1307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spcBef>
                <a:spcPts val="200"/>
              </a:spcBef>
              <a:spcAft>
                <a:spcPts val="100"/>
              </a:spcAft>
            </a:pPr>
            <a:r>
              <a:rPr sz="1350" b="1" i="0">
                <a:solidFill>
                  <a:srgbClr val="1B4332"/>
                </a:solidFill>
                <a:latin typeface="IBM Plex Sans Arabic"/>
                <a:cs typeface="IBM Plex Sans Arabic"/>
              </a:rPr>
              <a:t>تتبّع لحظي</a:t>
            </a:r>
          </a:p>
          <a:p>
            <a:pPr>
              <a:spcBef>
                <a:spcPts val="200"/>
              </a:spcBef>
              <a:spcAft>
                <a:spcPts val="300"/>
              </a:spcAft>
            </a:pPr>
            <a:r>
              <a:rPr sz="1300" b="1" i="0">
                <a:solidFill>
                  <a:srgbClr val="0D1B2A"/>
                </a:solidFill>
                <a:latin typeface="IBM Plex Sans"/>
                <a:cs typeface="IBM Plex Sans"/>
              </a:rPr>
              <a:t>Real-time GPS</a:t>
            </a:r>
          </a:p>
          <a:p>
            <a:pPr>
              <a:spcBef>
                <a:spcPts val="200"/>
              </a:spcBef>
              <a:spcAft>
                <a:spcPts val="0"/>
              </a:spcAft>
            </a:pPr>
            <a:r>
              <a:rPr sz="1050" b="0" i="0">
                <a:solidFill>
                  <a:srgbClr val="4A4A4A"/>
                </a:solidFill>
                <a:latin typeface="IBM Plex Sans"/>
                <a:cs typeface="IBM Plex Sans"/>
              </a:rPr>
              <a:t>Live vehicle positions every 5–10 seconds.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24528" y="1783080"/>
            <a:ext cx="3383280" cy="1600200"/>
          </a:xfrm>
          <a:prstGeom prst="roundRect">
            <a:avLst/>
          </a:prstGeom>
          <a:solidFill>
            <a:srgbClr val="F9F6EF"/>
          </a:solidFill>
          <a:ln w="12700">
            <a:solidFill>
              <a:srgbClr val="E3E0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224528" y="1783080"/>
            <a:ext cx="109728" cy="1600200"/>
          </a:xfrm>
          <a:prstGeom prst="rect">
            <a:avLst/>
          </a:prstGeom>
          <a:solidFill>
            <a:srgbClr val="C4B4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80560" y="1947672"/>
            <a:ext cx="2971800" cy="1307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spcBef>
                <a:spcPts val="200"/>
              </a:spcBef>
              <a:spcAft>
                <a:spcPts val="100"/>
              </a:spcAft>
            </a:pPr>
            <a:r>
              <a:rPr sz="1350" b="1" i="0">
                <a:solidFill>
                  <a:srgbClr val="1B4332"/>
                </a:solidFill>
                <a:latin typeface="IBM Plex Sans Arabic"/>
                <a:cs typeface="IBM Plex Sans Arabic"/>
              </a:rPr>
              <a:t>لوحة الوزارة</a:t>
            </a:r>
          </a:p>
          <a:p>
            <a:pPr>
              <a:spcBef>
                <a:spcPts val="200"/>
              </a:spcBef>
              <a:spcAft>
                <a:spcPts val="300"/>
              </a:spcAft>
            </a:pPr>
            <a:r>
              <a:rPr sz="1300" b="1" i="0">
                <a:solidFill>
                  <a:srgbClr val="0D1B2A"/>
                </a:solidFill>
                <a:latin typeface="IBM Plex Sans"/>
                <a:cs typeface="IBM Plex Sans"/>
              </a:rPr>
              <a:t>Ministry dashboard</a:t>
            </a:r>
          </a:p>
          <a:p>
            <a:pPr>
              <a:spcBef>
                <a:spcPts val="200"/>
              </a:spcBef>
              <a:spcAft>
                <a:spcPts val="0"/>
              </a:spcAft>
            </a:pPr>
            <a:r>
              <a:rPr sz="1050" b="0" i="0">
                <a:solidFill>
                  <a:srgbClr val="4A4A4A"/>
                </a:solidFill>
                <a:latin typeface="IBM Plex Sans"/>
                <a:cs typeface="IBM Plex Sans"/>
              </a:rPr>
              <a:t>Compliance alerts, analytics, oversight.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808975" y="1783080"/>
            <a:ext cx="3383280" cy="1600200"/>
          </a:xfrm>
          <a:prstGeom prst="roundRect">
            <a:avLst/>
          </a:prstGeom>
          <a:solidFill>
            <a:srgbClr val="F9F6EF"/>
          </a:solidFill>
          <a:ln w="12700">
            <a:solidFill>
              <a:srgbClr val="E3E0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808975" y="1783080"/>
            <a:ext cx="109728" cy="1600200"/>
          </a:xfrm>
          <a:prstGeom prst="rect">
            <a:avLst/>
          </a:prstGeom>
          <a:solidFill>
            <a:srgbClr val="1B43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65007" y="1947672"/>
            <a:ext cx="2971800" cy="1307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spcBef>
                <a:spcPts val="200"/>
              </a:spcBef>
              <a:spcAft>
                <a:spcPts val="100"/>
              </a:spcAft>
            </a:pPr>
            <a:r>
              <a:rPr sz="1350" b="1" i="0">
                <a:solidFill>
                  <a:srgbClr val="1B4332"/>
                </a:solidFill>
                <a:latin typeface="IBM Plex Sans Arabic"/>
                <a:cs typeface="IBM Plex Sans Arabic"/>
              </a:rPr>
              <a:t>تطبيق الركّاب</a:t>
            </a:r>
          </a:p>
          <a:p>
            <a:pPr>
              <a:spcBef>
                <a:spcPts val="200"/>
              </a:spcBef>
              <a:spcAft>
                <a:spcPts val="300"/>
              </a:spcAft>
            </a:pPr>
            <a:r>
              <a:rPr sz="1300" b="1" i="0">
                <a:solidFill>
                  <a:srgbClr val="0D1B2A"/>
                </a:solidFill>
                <a:latin typeface="IBM Plex Sans"/>
                <a:cs typeface="IBM Plex Sans"/>
              </a:rPr>
              <a:t>Passenger app</a:t>
            </a:r>
          </a:p>
          <a:p>
            <a:pPr>
              <a:spcBef>
                <a:spcPts val="200"/>
              </a:spcBef>
              <a:spcAft>
                <a:spcPts val="0"/>
              </a:spcAft>
            </a:pPr>
            <a:r>
              <a:rPr sz="1050" b="0" i="0">
                <a:solidFill>
                  <a:srgbClr val="4A4A4A"/>
                </a:solidFill>
                <a:latin typeface="IBM Plex Sans"/>
                <a:cs typeface="IBM Plex Sans"/>
              </a:rPr>
              <a:t>Live ETAs, Arabic-first, no app store (PWA).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703320"/>
            <a:ext cx="3383280" cy="1600200"/>
          </a:xfrm>
          <a:prstGeom prst="roundRect">
            <a:avLst/>
          </a:prstGeom>
          <a:solidFill>
            <a:srgbClr val="F9F6EF"/>
          </a:solidFill>
          <a:ln w="12700">
            <a:solidFill>
              <a:srgbClr val="E3E0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40080" y="3703320"/>
            <a:ext cx="109728" cy="1600200"/>
          </a:xfrm>
          <a:prstGeom prst="rect">
            <a:avLst/>
          </a:prstGeom>
          <a:solidFill>
            <a:srgbClr val="C4B4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" y="3867911"/>
            <a:ext cx="2971800" cy="1307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spcBef>
                <a:spcPts val="200"/>
              </a:spcBef>
              <a:spcAft>
                <a:spcPts val="100"/>
              </a:spcAft>
            </a:pPr>
            <a:r>
              <a:rPr sz="1350" b="1" i="0">
                <a:solidFill>
                  <a:srgbClr val="1B4332"/>
                </a:solidFill>
                <a:latin typeface="IBM Plex Sans Arabic"/>
                <a:cs typeface="IBM Plex Sans Arabic"/>
              </a:rPr>
              <a:t>تطبيق السائق</a:t>
            </a:r>
          </a:p>
          <a:p>
            <a:pPr>
              <a:spcBef>
                <a:spcPts val="200"/>
              </a:spcBef>
              <a:spcAft>
                <a:spcPts val="300"/>
              </a:spcAft>
            </a:pPr>
            <a:r>
              <a:rPr sz="1300" b="1" i="0">
                <a:solidFill>
                  <a:srgbClr val="0D1B2A"/>
                </a:solidFill>
                <a:latin typeface="IBM Plex Sans"/>
                <a:cs typeface="IBM Plex Sans"/>
              </a:rPr>
              <a:t>Driver app</a:t>
            </a:r>
          </a:p>
          <a:p>
            <a:pPr>
              <a:spcBef>
                <a:spcPts val="200"/>
              </a:spcBef>
              <a:spcAft>
                <a:spcPts val="0"/>
              </a:spcAft>
            </a:pPr>
            <a:r>
              <a:rPr sz="1050" b="0" i="0">
                <a:solidFill>
                  <a:srgbClr val="4A4A4A"/>
                </a:solidFill>
                <a:latin typeface="IBM Plex Sans"/>
                <a:cs typeface="IBM Plex Sans"/>
              </a:rPr>
              <a:t>Trips, incidents, GPS from the cab.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224528" y="3703320"/>
            <a:ext cx="3383280" cy="1600200"/>
          </a:xfrm>
          <a:prstGeom prst="roundRect">
            <a:avLst/>
          </a:prstGeom>
          <a:solidFill>
            <a:srgbClr val="F9F6EF"/>
          </a:solidFill>
          <a:ln w="12700">
            <a:solidFill>
              <a:srgbClr val="E3E0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224528" y="3703320"/>
            <a:ext cx="109728" cy="1600200"/>
          </a:xfrm>
          <a:prstGeom prst="rect">
            <a:avLst/>
          </a:prstGeom>
          <a:solidFill>
            <a:srgbClr val="1B43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480560" y="3867911"/>
            <a:ext cx="2971800" cy="1307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spcBef>
                <a:spcPts val="200"/>
              </a:spcBef>
              <a:spcAft>
                <a:spcPts val="100"/>
              </a:spcAft>
            </a:pPr>
            <a:r>
              <a:rPr sz="1350" b="1" i="0">
                <a:solidFill>
                  <a:srgbClr val="1B4332"/>
                </a:solidFill>
                <a:latin typeface="IBM Plex Sans Arabic"/>
                <a:cs typeface="IBM Plex Sans Arabic"/>
              </a:rPr>
              <a:t>معيار GTFS</a:t>
            </a:r>
          </a:p>
          <a:p>
            <a:pPr>
              <a:spcBef>
                <a:spcPts val="200"/>
              </a:spcBef>
              <a:spcAft>
                <a:spcPts val="300"/>
              </a:spcAft>
            </a:pPr>
            <a:r>
              <a:rPr sz="1300" b="1" i="0">
                <a:solidFill>
                  <a:srgbClr val="0D1B2A"/>
                </a:solidFill>
                <a:latin typeface="IBM Plex Sans"/>
                <a:cs typeface="IBM Plex Sans"/>
              </a:rPr>
              <a:t>GTFS feed</a:t>
            </a:r>
          </a:p>
          <a:p>
            <a:pPr>
              <a:spcBef>
                <a:spcPts val="200"/>
              </a:spcBef>
              <a:spcAft>
                <a:spcPts val="0"/>
              </a:spcAft>
            </a:pPr>
            <a:r>
              <a:rPr sz="1050" b="0" i="0">
                <a:solidFill>
                  <a:srgbClr val="4A4A4A"/>
                </a:solidFill>
                <a:latin typeface="IBM Plex Sans"/>
                <a:cs typeface="IBM Plex Sans"/>
              </a:rPr>
              <a:t>Damascus on Google &amp; Apple Maps.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808975" y="3703320"/>
            <a:ext cx="3383280" cy="1600200"/>
          </a:xfrm>
          <a:prstGeom prst="roundRect">
            <a:avLst/>
          </a:prstGeom>
          <a:solidFill>
            <a:srgbClr val="F9F6EF"/>
          </a:solidFill>
          <a:ln w="12700">
            <a:solidFill>
              <a:srgbClr val="E3E0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808975" y="3703320"/>
            <a:ext cx="109728" cy="1600200"/>
          </a:xfrm>
          <a:prstGeom prst="rect">
            <a:avLst/>
          </a:prstGeom>
          <a:solidFill>
            <a:srgbClr val="C4B4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065007" y="3867911"/>
            <a:ext cx="2971800" cy="1307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spcBef>
                <a:spcPts val="200"/>
              </a:spcBef>
              <a:spcAft>
                <a:spcPts val="100"/>
              </a:spcAft>
            </a:pPr>
            <a:r>
              <a:rPr sz="1350" b="1" i="0">
                <a:solidFill>
                  <a:srgbClr val="1B4332"/>
                </a:solidFill>
                <a:latin typeface="IBM Plex Sans Arabic"/>
                <a:cs typeface="IBM Plex Sans Arabic"/>
              </a:rPr>
              <a:t>مفتوح المصدر</a:t>
            </a:r>
          </a:p>
          <a:p>
            <a:pPr>
              <a:spcBef>
                <a:spcPts val="200"/>
              </a:spcBef>
              <a:spcAft>
                <a:spcPts val="300"/>
              </a:spcAft>
            </a:pPr>
            <a:r>
              <a:rPr sz="1300" b="1" i="0">
                <a:solidFill>
                  <a:srgbClr val="0D1B2A"/>
                </a:solidFill>
                <a:latin typeface="IBM Plex Sans"/>
                <a:cs typeface="IBM Plex Sans"/>
              </a:rPr>
              <a:t>Open-source</a:t>
            </a:r>
          </a:p>
          <a:p>
            <a:pPr>
              <a:spcBef>
                <a:spcPts val="200"/>
              </a:spcBef>
              <a:spcAft>
                <a:spcPts val="0"/>
              </a:spcAft>
            </a:pPr>
            <a:r>
              <a:rPr sz="1050" b="0" i="0">
                <a:solidFill>
                  <a:srgbClr val="4A4A4A"/>
                </a:solidFill>
                <a:latin typeface="IBM Plex Sans"/>
                <a:cs typeface="IBM Plex Sans"/>
              </a:rPr>
              <a:t>No vendor lock-in; data stays in Syria.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6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72800" cy="1051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spcBef>
                <a:spcPts val="200"/>
              </a:spcBef>
              <a:spcAft>
                <a:spcPts val="100"/>
              </a:spcAft>
            </a:pPr>
            <a:r>
              <a:rPr sz="2200" b="1" i="0">
                <a:solidFill>
                  <a:srgbClr val="1B4332"/>
                </a:solidFill>
                <a:latin typeface="IBM Plex Sans Arabic"/>
                <a:cs typeface="IBM Plex Sans Arabic"/>
              </a:rPr>
              <a:t>كيف يعمل النظام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600" b="1" i="0">
                <a:solidFill>
                  <a:srgbClr val="7A7060"/>
                </a:solidFill>
                <a:latin typeface="IBM Plex Sans"/>
                <a:cs typeface="IBM Plex Sans"/>
              </a:rPr>
              <a:t>How the System Works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2468880"/>
            <a:ext cx="1975104" cy="1143000"/>
          </a:xfrm>
          <a:prstGeom prst="roundRect">
            <a:avLst/>
          </a:prstGeom>
          <a:solidFill>
            <a:srgbClr val="1B43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19" y="2633472"/>
            <a:ext cx="1792224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200"/>
              </a:spcBef>
              <a:spcAft>
                <a:spcPts val="100"/>
              </a:spcAft>
            </a:pPr>
            <a:r>
              <a:rPr sz="1300" b="1" i="0">
                <a:solidFill>
                  <a:srgbClr val="F9F6EF"/>
                </a:solidFill>
                <a:latin typeface="IBM Plex Sans Arabic"/>
                <a:cs typeface="IBM Plex Sans Arabic"/>
              </a:rPr>
              <a:t>وحدة GPS</a:t>
            </a:r>
          </a:p>
          <a:p>
            <a:pPr algn="ctr">
              <a:spcBef>
                <a:spcPts val="200"/>
              </a:spcBef>
              <a:spcAft>
                <a:spcPts val="0"/>
              </a:spcAft>
            </a:pPr>
            <a:r>
              <a:rPr sz="1100" b="0" i="0">
                <a:solidFill>
                  <a:srgbClr val="C4B47E"/>
                </a:solidFill>
                <a:latin typeface="IBM Plex Sans"/>
                <a:cs typeface="IBM Plex Sans"/>
              </a:rPr>
              <a:t>GPS unit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633472" y="2743200"/>
            <a:ext cx="41148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200"/>
              </a:spcBef>
              <a:spcAft>
                <a:spcPts val="200"/>
              </a:spcAft>
            </a:pPr>
            <a:r>
              <a:rPr sz="2000" b="1" i="0">
                <a:solidFill>
                  <a:srgbClr val="7A7060"/>
                </a:solidFill>
                <a:latin typeface="IBM Plex Sans"/>
                <a:cs typeface="IBM Plex Sans"/>
              </a:rPr>
              <a:t>→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026664" y="2468880"/>
            <a:ext cx="1975104" cy="1143000"/>
          </a:xfrm>
          <a:prstGeom prst="round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118104" y="2633472"/>
            <a:ext cx="1792224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200"/>
              </a:spcBef>
              <a:spcAft>
                <a:spcPts val="100"/>
              </a:spcAft>
            </a:pPr>
            <a:r>
              <a:rPr sz="1300" b="1" i="0">
                <a:solidFill>
                  <a:srgbClr val="F9F6EF"/>
                </a:solidFill>
                <a:latin typeface="IBM Plex Sans Arabic"/>
                <a:cs typeface="IBM Plex Sans Arabic"/>
              </a:rPr>
              <a:t>الوسيط</a:t>
            </a:r>
          </a:p>
          <a:p>
            <a:pPr algn="ctr">
              <a:spcBef>
                <a:spcPts val="200"/>
              </a:spcBef>
              <a:spcAft>
                <a:spcPts val="0"/>
              </a:spcAft>
            </a:pPr>
            <a:r>
              <a:rPr sz="1100" b="0" i="0">
                <a:solidFill>
                  <a:srgbClr val="C4B47E"/>
                </a:solidFill>
                <a:latin typeface="IBM Plex Sans"/>
                <a:cs typeface="IBM Plex Sans"/>
              </a:rPr>
              <a:t>MQTT broker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0056" y="2743200"/>
            <a:ext cx="41148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200"/>
              </a:spcBef>
              <a:spcAft>
                <a:spcPts val="200"/>
              </a:spcAft>
            </a:pPr>
            <a:r>
              <a:rPr sz="2000" b="1" i="0">
                <a:solidFill>
                  <a:srgbClr val="7A7060"/>
                </a:solidFill>
                <a:latin typeface="IBM Plex Sans"/>
                <a:cs typeface="IBM Plex Sans"/>
              </a:rP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13248" y="2468880"/>
            <a:ext cx="1975104" cy="1143000"/>
          </a:xfrm>
          <a:prstGeom prst="roundRect">
            <a:avLst/>
          </a:prstGeom>
          <a:solidFill>
            <a:srgbClr val="1B43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504688" y="2633472"/>
            <a:ext cx="1792224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200"/>
              </a:spcBef>
              <a:spcAft>
                <a:spcPts val="100"/>
              </a:spcAft>
            </a:pPr>
            <a:r>
              <a:rPr sz="1300" b="1" i="0">
                <a:solidFill>
                  <a:srgbClr val="F9F6EF"/>
                </a:solidFill>
                <a:latin typeface="IBM Plex Sans Arabic"/>
                <a:cs typeface="IBM Plex Sans Arabic"/>
              </a:rPr>
              <a:t>الخادم</a:t>
            </a:r>
          </a:p>
          <a:p>
            <a:pPr algn="ctr">
              <a:spcBef>
                <a:spcPts val="200"/>
              </a:spcBef>
              <a:spcAft>
                <a:spcPts val="0"/>
              </a:spcAft>
            </a:pPr>
            <a:r>
              <a:rPr sz="1100" b="0" i="0">
                <a:solidFill>
                  <a:srgbClr val="C4B47E"/>
                </a:solidFill>
                <a:latin typeface="IBM Plex Sans"/>
                <a:cs typeface="IBM Plex Sans"/>
              </a:rPr>
              <a:t>Backend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06640" y="2743200"/>
            <a:ext cx="41148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200"/>
              </a:spcBef>
              <a:spcAft>
                <a:spcPts val="200"/>
              </a:spcAft>
            </a:pPr>
            <a:r>
              <a:rPr sz="2000" b="1" i="0">
                <a:solidFill>
                  <a:srgbClr val="7A7060"/>
                </a:solidFill>
                <a:latin typeface="IBM Plex Sans"/>
                <a:cs typeface="IBM Plex Sans"/>
              </a:rP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99832" y="2468880"/>
            <a:ext cx="1975104" cy="1143000"/>
          </a:xfrm>
          <a:prstGeom prst="round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891272" y="2633472"/>
            <a:ext cx="1792224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200"/>
              </a:spcBef>
              <a:spcAft>
                <a:spcPts val="100"/>
              </a:spcAft>
            </a:pPr>
            <a:r>
              <a:rPr sz="1300" b="1" i="0">
                <a:solidFill>
                  <a:srgbClr val="F9F6EF"/>
                </a:solidFill>
                <a:latin typeface="IBM Plex Sans Arabic"/>
                <a:cs typeface="IBM Plex Sans Arabic"/>
              </a:rPr>
              <a:t>Redis + قاعدة</a:t>
            </a:r>
          </a:p>
          <a:p>
            <a:pPr algn="ctr">
              <a:spcBef>
                <a:spcPts val="200"/>
              </a:spcBef>
              <a:spcAft>
                <a:spcPts val="0"/>
              </a:spcAft>
            </a:pPr>
            <a:r>
              <a:rPr sz="1100" b="0" i="0">
                <a:solidFill>
                  <a:srgbClr val="C4B47E"/>
                </a:solidFill>
                <a:latin typeface="IBM Plex Sans"/>
                <a:cs typeface="IBM Plex Sans"/>
              </a:rPr>
              <a:t>Redis + DB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793224" y="2743200"/>
            <a:ext cx="41148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200"/>
              </a:spcBef>
              <a:spcAft>
                <a:spcPts val="200"/>
              </a:spcAft>
            </a:pPr>
            <a:r>
              <a:rPr sz="2000" b="1" i="0">
                <a:solidFill>
                  <a:srgbClr val="7A7060"/>
                </a:solidFill>
                <a:latin typeface="IBM Plex Sans"/>
                <a:cs typeface="IBM Plex Sans"/>
              </a:rPr>
              <a:t>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186416" y="2468880"/>
            <a:ext cx="1975104" cy="1143000"/>
          </a:xfrm>
          <a:prstGeom prst="roundRect">
            <a:avLst/>
          </a:prstGeom>
          <a:solidFill>
            <a:srgbClr val="1B43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277856" y="2633472"/>
            <a:ext cx="1792224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200"/>
              </a:spcBef>
              <a:spcAft>
                <a:spcPts val="100"/>
              </a:spcAft>
            </a:pPr>
            <a:r>
              <a:rPr sz="1300" b="1" i="0">
                <a:solidFill>
                  <a:srgbClr val="F9F6EF"/>
                </a:solidFill>
                <a:latin typeface="IBM Plex Sans Arabic"/>
                <a:cs typeface="IBM Plex Sans Arabic"/>
              </a:rPr>
              <a:t>التطبيقات</a:t>
            </a:r>
          </a:p>
          <a:p>
            <a:pPr algn="ctr">
              <a:spcBef>
                <a:spcPts val="200"/>
              </a:spcBef>
              <a:spcAft>
                <a:spcPts val="0"/>
              </a:spcAft>
            </a:pPr>
            <a:r>
              <a:rPr sz="1100" b="0" i="0">
                <a:solidFill>
                  <a:srgbClr val="C4B47E"/>
                </a:solidFill>
                <a:latin typeface="IBM Plex Sans"/>
                <a:cs typeface="IBM Plex Sans"/>
              </a:rPr>
              <a:t>Apps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4114800"/>
            <a:ext cx="1097280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spcBef>
                <a:spcPts val="200"/>
              </a:spcBef>
              <a:spcAft>
                <a:spcPts val="600"/>
              </a:spcAft>
            </a:pPr>
            <a:r>
              <a:rPr sz="1200" b="0" i="0">
                <a:solidFill>
                  <a:srgbClr val="333333"/>
                </a:solidFill>
                <a:latin typeface="IBM Plex Sans Arabic"/>
                <a:cs typeface="IBM Plex Sans Arabic"/>
              </a:rPr>
              <a:t>المركبة ترسل موقعها إلى الوسيط، فيمرّره الخادم إلى ذاكرة Redis (للخريطة الحيّة) وقاعدة البيانات (للتاريخ).  •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200" b="0" i="0">
                <a:solidFill>
                  <a:srgbClr val="333333"/>
                </a:solidFill>
                <a:latin typeface="IBM Plex Sans"/>
                <a:cs typeface="IBM Plex Sans"/>
              </a:rPr>
              <a:t>•  The vehicle publishes its position to the broker; the backend routes it to Redis (live map) and the database (history).</a:t>
            </a:r>
          </a:p>
          <a:p>
            <a:pPr algn="r" rtl="1">
              <a:spcBef>
                <a:spcPts val="200"/>
              </a:spcBef>
              <a:spcAft>
                <a:spcPts val="600"/>
              </a:spcAft>
            </a:pPr>
            <a:r>
              <a:rPr sz="1200" b="0" i="0">
                <a:solidFill>
                  <a:srgbClr val="333333"/>
                </a:solidFill>
                <a:latin typeface="IBM Plex Sans Arabic"/>
                <a:cs typeface="IBM Plex Sans Arabic"/>
              </a:rPr>
              <a:t>تطبيقات الركّاب والوزارة تتّصل بالخادم — لا تتّصل بقاعدة البيانات مباشرة (أمان).  •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200" b="0" i="0">
                <a:solidFill>
                  <a:srgbClr val="333333"/>
                </a:solidFill>
                <a:latin typeface="IBM Plex Sans"/>
                <a:cs typeface="IBM Plex Sans"/>
              </a:rPr>
              <a:t>•  Passenger and Ministry apps talk to the backend, never directly to the database (security).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6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72800" cy="1051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spcBef>
                <a:spcPts val="200"/>
              </a:spcBef>
              <a:spcAft>
                <a:spcPts val="100"/>
              </a:spcAft>
            </a:pPr>
            <a:r>
              <a:rPr sz="2200" b="1" i="0">
                <a:solidFill>
                  <a:srgbClr val="1B4332"/>
                </a:solidFill>
                <a:latin typeface="IBM Plex Sans Arabic"/>
                <a:cs typeface="IBM Plex Sans Arabic"/>
              </a:rPr>
              <a:t>طريقتان للتتبّع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600" b="1" i="0">
                <a:solidFill>
                  <a:srgbClr val="7A7060"/>
                </a:solidFill>
                <a:latin typeface="IBM Plex Sans"/>
                <a:cs typeface="IBM Plex Sans"/>
              </a:rPr>
              <a:t>Two Tracking Methods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783080"/>
            <a:ext cx="5349240" cy="2468880"/>
          </a:xfrm>
          <a:prstGeom prst="roundRect">
            <a:avLst/>
          </a:prstGeom>
          <a:solidFill>
            <a:srgbClr val="F9F6EF"/>
          </a:solidFill>
          <a:ln w="12700">
            <a:solidFill>
              <a:srgbClr val="E3E0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783080"/>
            <a:ext cx="109728" cy="2468880"/>
          </a:xfrm>
          <a:prstGeom prst="rect">
            <a:avLst/>
          </a:prstGeom>
          <a:solidFill>
            <a:srgbClr val="1B43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96112" y="1947672"/>
            <a:ext cx="4937759" cy="21762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spcBef>
                <a:spcPts val="200"/>
              </a:spcBef>
              <a:spcAft>
                <a:spcPts val="100"/>
              </a:spcAft>
            </a:pPr>
            <a:r>
              <a:rPr sz="1350" b="1" i="0">
                <a:solidFill>
                  <a:srgbClr val="1B4332"/>
                </a:solidFill>
                <a:latin typeface="IBM Plex Sans Arabic"/>
                <a:cs typeface="IBM Plex Sans Arabic"/>
              </a:rPr>
              <a:t>الطريقة أ — وحدة GPS مخصّصة (موصى بها)</a:t>
            </a:r>
          </a:p>
          <a:p>
            <a:pPr>
              <a:spcBef>
                <a:spcPts val="200"/>
              </a:spcBef>
              <a:spcAft>
                <a:spcPts val="300"/>
              </a:spcAft>
            </a:pPr>
            <a:r>
              <a:rPr sz="1300" b="1" i="0">
                <a:solidFill>
                  <a:srgbClr val="0D1B2A"/>
                </a:solidFill>
                <a:latin typeface="IBM Plex Sans"/>
                <a:cs typeface="IBM Plex Sans"/>
              </a:rPr>
              <a:t>Method A — Custom GPS unit (recommended)</a:t>
            </a:r>
          </a:p>
          <a:p>
            <a:pPr>
              <a:spcBef>
                <a:spcPts val="200"/>
              </a:spcBef>
              <a:spcAft>
                <a:spcPts val="0"/>
              </a:spcAft>
            </a:pPr>
            <a:r>
              <a:rPr sz="1050" b="0" i="0">
                <a:solidFill>
                  <a:srgbClr val="4A4A4A"/>
                </a:solidFill>
                <a:latin typeface="IBM Plex Sans"/>
                <a:cs typeface="IBM Plex Sans"/>
              </a:rPr>
              <a:t>A GPS device installed on each bus/microbus. Works on its own — no smartphone needed. Best fit for Syria's fleet.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99632" y="1783080"/>
            <a:ext cx="5349240" cy="2468880"/>
          </a:xfrm>
          <a:prstGeom prst="roundRect">
            <a:avLst/>
          </a:prstGeom>
          <a:solidFill>
            <a:srgbClr val="F9F6EF"/>
          </a:solidFill>
          <a:ln w="12700">
            <a:solidFill>
              <a:srgbClr val="E3E0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199632" y="1783080"/>
            <a:ext cx="109728" cy="2468880"/>
          </a:xfrm>
          <a:prstGeom prst="rect">
            <a:avLst/>
          </a:prstGeom>
          <a:solidFill>
            <a:srgbClr val="C4B4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55664" y="1947672"/>
            <a:ext cx="4937759" cy="21762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spcBef>
                <a:spcPts val="200"/>
              </a:spcBef>
              <a:spcAft>
                <a:spcPts val="100"/>
              </a:spcAft>
            </a:pPr>
            <a:r>
              <a:rPr sz="1350" b="1" i="0">
                <a:solidFill>
                  <a:srgbClr val="1B4332"/>
                </a:solidFill>
                <a:latin typeface="IBM Plex Sans Arabic"/>
                <a:cs typeface="IBM Plex Sans Arabic"/>
              </a:rPr>
              <a:t>الطريقة ب — تطبيق هاتف السائق</a:t>
            </a:r>
          </a:p>
          <a:p>
            <a:pPr>
              <a:spcBef>
                <a:spcPts val="200"/>
              </a:spcBef>
              <a:spcAft>
                <a:spcPts val="300"/>
              </a:spcAft>
            </a:pPr>
            <a:r>
              <a:rPr sz="1300" b="1" i="0">
                <a:solidFill>
                  <a:srgbClr val="0D1B2A"/>
                </a:solidFill>
                <a:latin typeface="IBM Plex Sans"/>
                <a:cs typeface="IBM Plex Sans"/>
              </a:rPr>
              <a:t>Method B — Driver smartphone app</a:t>
            </a:r>
          </a:p>
          <a:p>
            <a:pPr>
              <a:spcBef>
                <a:spcPts val="200"/>
              </a:spcBef>
              <a:spcAft>
                <a:spcPts val="0"/>
              </a:spcAft>
            </a:pPr>
            <a:r>
              <a:rPr sz="1050" b="0" i="0">
                <a:solidFill>
                  <a:srgbClr val="4A4A4A"/>
                </a:solidFill>
                <a:latin typeface="IBM Plex Sans"/>
                <a:cs typeface="IBM Plex Sans"/>
              </a:rPr>
              <a:t>The driver's phone sends GPS via the app. Zero hardware, fastest to deploy where drivers have smartphones.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526280"/>
            <a:ext cx="109728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spcBef>
                <a:spcPts val="200"/>
              </a:spcBef>
              <a:spcAft>
                <a:spcPts val="600"/>
              </a:spcAft>
            </a:pPr>
            <a:r>
              <a:rPr sz="1250" b="0" i="0">
                <a:solidFill>
                  <a:srgbClr val="333333"/>
                </a:solidFill>
                <a:latin typeface="IBM Plex Sans Arabic"/>
                <a:cs typeface="IBM Plex Sans Arabic"/>
              </a:rPr>
              <a:t>في سورية كثير من الباصات والميكروباصات بلا هواتف ذكية — لذلك الوحدة المخصّصة هي الأساس، والتطبيق مكمّل.  •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250" b="0" i="0">
                <a:solidFill>
                  <a:srgbClr val="333333"/>
                </a:solidFill>
                <a:latin typeface="IBM Plex Sans"/>
                <a:cs typeface="IBM Plex Sans"/>
              </a:rPr>
              <a:t>•  Many Syrian buses &amp; microbuses have no smartphones — so the custom unit is the backbone, the app complements it.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6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72800" cy="1051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spcBef>
                <a:spcPts val="200"/>
              </a:spcBef>
              <a:spcAft>
                <a:spcPts val="100"/>
              </a:spcAft>
            </a:pPr>
            <a:r>
              <a:rPr sz="2200" b="1" i="0">
                <a:solidFill>
                  <a:srgbClr val="1B4332"/>
                </a:solidFill>
                <a:latin typeface="IBM Plex Sans Arabic"/>
                <a:cs typeface="IBM Plex Sans Arabic"/>
              </a:rPr>
              <a:t>قدرات المنصّة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600" b="1" i="0">
                <a:solidFill>
                  <a:srgbClr val="7A7060"/>
                </a:solidFill>
                <a:latin typeface="IBM Plex Sans"/>
                <a:cs typeface="IBM Plex Sans"/>
              </a:rPr>
              <a:t>Platform Capabilities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783080"/>
            <a:ext cx="5349240" cy="1627632"/>
          </a:xfrm>
          <a:prstGeom prst="roundRect">
            <a:avLst/>
          </a:prstGeom>
          <a:solidFill>
            <a:srgbClr val="F9F6EF"/>
          </a:solidFill>
          <a:ln w="12700">
            <a:solidFill>
              <a:srgbClr val="E3E0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783080"/>
            <a:ext cx="109728" cy="1627632"/>
          </a:xfrm>
          <a:prstGeom prst="rect">
            <a:avLst/>
          </a:prstGeom>
          <a:solidFill>
            <a:srgbClr val="1B43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96112" y="1947672"/>
            <a:ext cx="4937759" cy="13350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spcBef>
                <a:spcPts val="200"/>
              </a:spcBef>
              <a:spcAft>
                <a:spcPts val="100"/>
              </a:spcAft>
            </a:pPr>
            <a:r>
              <a:rPr sz="1350" b="1" i="0">
                <a:solidFill>
                  <a:srgbClr val="1B4332"/>
                </a:solidFill>
                <a:latin typeface="IBM Plex Sans Arabic"/>
                <a:cs typeface="IBM Plex Sans Arabic"/>
              </a:rPr>
              <a:t>تتبّع الأسطول</a:t>
            </a:r>
          </a:p>
          <a:p>
            <a:pPr>
              <a:spcBef>
                <a:spcPts val="200"/>
              </a:spcBef>
              <a:spcAft>
                <a:spcPts val="300"/>
              </a:spcAft>
            </a:pPr>
            <a:r>
              <a:rPr sz="1300" b="1" i="0">
                <a:solidFill>
                  <a:srgbClr val="0D1B2A"/>
                </a:solidFill>
                <a:latin typeface="IBM Plex Sans"/>
                <a:cs typeface="IBM Plex Sans"/>
              </a:rPr>
              <a:t>Fleet tracking</a:t>
            </a:r>
          </a:p>
          <a:p>
            <a:pPr>
              <a:spcBef>
                <a:spcPts val="200"/>
              </a:spcBef>
              <a:spcAft>
                <a:spcPts val="0"/>
              </a:spcAft>
            </a:pPr>
            <a:r>
              <a:rPr sz="1050" b="0" i="0">
                <a:solidFill>
                  <a:srgbClr val="4A4A4A"/>
                </a:solidFill>
                <a:latin typeface="IBM Plex Sans"/>
                <a:cs typeface="IBM Plex Sans"/>
              </a:rPr>
              <a:t>Live map, route-deviation alerts, speed &amp; SOS.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99632" y="1783080"/>
            <a:ext cx="5349240" cy="1627632"/>
          </a:xfrm>
          <a:prstGeom prst="roundRect">
            <a:avLst/>
          </a:prstGeom>
          <a:solidFill>
            <a:srgbClr val="F9F6EF"/>
          </a:solidFill>
          <a:ln w="12700">
            <a:solidFill>
              <a:srgbClr val="E3E0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199632" y="1783080"/>
            <a:ext cx="109728" cy="1627632"/>
          </a:xfrm>
          <a:prstGeom prst="rect">
            <a:avLst/>
          </a:prstGeom>
          <a:solidFill>
            <a:srgbClr val="C4B4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55664" y="1947672"/>
            <a:ext cx="4937759" cy="13350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spcBef>
                <a:spcPts val="200"/>
              </a:spcBef>
              <a:spcAft>
                <a:spcPts val="100"/>
              </a:spcAft>
            </a:pPr>
            <a:r>
              <a:rPr sz="1350" b="1" i="0">
                <a:solidFill>
                  <a:srgbClr val="1B4332"/>
                </a:solidFill>
                <a:latin typeface="IBM Plex Sans Arabic"/>
                <a:cs typeface="IBM Plex Sans Arabic"/>
              </a:rPr>
              <a:t>معلومات الركّاب</a:t>
            </a:r>
          </a:p>
          <a:p>
            <a:pPr>
              <a:spcBef>
                <a:spcPts val="200"/>
              </a:spcBef>
              <a:spcAft>
                <a:spcPts val="300"/>
              </a:spcAft>
            </a:pPr>
            <a:r>
              <a:rPr sz="1300" b="1" i="0">
                <a:solidFill>
                  <a:srgbClr val="0D1B2A"/>
                </a:solidFill>
                <a:latin typeface="IBM Plex Sans"/>
                <a:cs typeface="IBM Plex Sans"/>
              </a:rPr>
              <a:t>Passenger intelligence</a:t>
            </a:r>
          </a:p>
          <a:p>
            <a:pPr>
              <a:spcBef>
                <a:spcPts val="200"/>
              </a:spcBef>
              <a:spcAft>
                <a:spcPts val="0"/>
              </a:spcAft>
            </a:pPr>
            <a:r>
              <a:rPr sz="1050" b="0" i="0">
                <a:solidFill>
                  <a:srgbClr val="4A4A4A"/>
                </a:solidFill>
                <a:latin typeface="IBM Plex Sans"/>
                <a:cs typeface="IBM Plex Sans"/>
              </a:rPr>
              <a:t>Live ETAs, nearest stop, trip planner, offline PWA.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3703320"/>
            <a:ext cx="5349240" cy="1627632"/>
          </a:xfrm>
          <a:prstGeom prst="roundRect">
            <a:avLst/>
          </a:prstGeom>
          <a:solidFill>
            <a:srgbClr val="F9F6EF"/>
          </a:solidFill>
          <a:ln w="12700">
            <a:solidFill>
              <a:srgbClr val="E3E0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" y="3703320"/>
            <a:ext cx="109728" cy="1627632"/>
          </a:xfrm>
          <a:prstGeom prst="rect">
            <a:avLst/>
          </a:prstGeom>
          <a:solidFill>
            <a:srgbClr val="1B43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96112" y="3867911"/>
            <a:ext cx="4937759" cy="13350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spcBef>
                <a:spcPts val="200"/>
              </a:spcBef>
              <a:spcAft>
                <a:spcPts val="100"/>
              </a:spcAft>
            </a:pPr>
            <a:r>
              <a:rPr sz="1350" b="1" i="0">
                <a:solidFill>
                  <a:srgbClr val="1B4332"/>
                </a:solidFill>
                <a:latin typeface="IBM Plex Sans Arabic"/>
                <a:cs typeface="IBM Plex Sans Arabic"/>
              </a:rPr>
              <a:t>تحليلات حكومية</a:t>
            </a:r>
          </a:p>
          <a:p>
            <a:pPr>
              <a:spcBef>
                <a:spcPts val="200"/>
              </a:spcBef>
              <a:spcAft>
                <a:spcPts val="300"/>
              </a:spcAft>
            </a:pPr>
            <a:r>
              <a:rPr sz="1300" b="1" i="0">
                <a:solidFill>
                  <a:srgbClr val="0D1B2A"/>
                </a:solidFill>
                <a:latin typeface="IBM Plex Sans"/>
                <a:cs typeface="IBM Plex Sans"/>
              </a:rPr>
              <a:t>Government analytics</a:t>
            </a:r>
          </a:p>
          <a:p>
            <a:pPr>
              <a:spcBef>
                <a:spcPts val="200"/>
              </a:spcBef>
              <a:spcAft>
                <a:spcPts val="0"/>
              </a:spcAft>
            </a:pPr>
            <a:r>
              <a:rPr sz="1050" b="0" i="0">
                <a:solidFill>
                  <a:srgbClr val="4A4A4A"/>
                </a:solidFill>
                <a:latin typeface="IBM Plex Sans"/>
                <a:cs typeface="IBM Plex Sans"/>
              </a:rPr>
              <a:t>Utilization, on-time rates, congestion, GTFS export.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99632" y="3703320"/>
            <a:ext cx="5349240" cy="1627632"/>
          </a:xfrm>
          <a:prstGeom prst="roundRect">
            <a:avLst/>
          </a:prstGeom>
          <a:solidFill>
            <a:srgbClr val="F9F6EF"/>
          </a:solidFill>
          <a:ln w="12700">
            <a:solidFill>
              <a:srgbClr val="E3E0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99632" y="3703320"/>
            <a:ext cx="109728" cy="1627632"/>
          </a:xfrm>
          <a:prstGeom prst="rect">
            <a:avLst/>
          </a:prstGeom>
          <a:solidFill>
            <a:srgbClr val="C4B4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55664" y="3867911"/>
            <a:ext cx="4937759" cy="13350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spcBef>
                <a:spcPts val="200"/>
              </a:spcBef>
              <a:spcAft>
                <a:spcPts val="100"/>
              </a:spcAft>
            </a:pPr>
            <a:r>
              <a:rPr sz="1350" b="1" i="0">
                <a:solidFill>
                  <a:srgbClr val="1B4332"/>
                </a:solidFill>
                <a:latin typeface="IBM Plex Sans Arabic"/>
                <a:cs typeface="IBM Plex Sans Arabic"/>
              </a:rPr>
              <a:t>الإدارة والصلاحيات</a:t>
            </a:r>
          </a:p>
          <a:p>
            <a:pPr>
              <a:spcBef>
                <a:spcPts val="200"/>
              </a:spcBef>
              <a:spcAft>
                <a:spcPts val="300"/>
              </a:spcAft>
            </a:pPr>
            <a:r>
              <a:rPr sz="1300" b="1" i="0">
                <a:solidFill>
                  <a:srgbClr val="0D1B2A"/>
                </a:solidFill>
                <a:latin typeface="IBM Plex Sans"/>
                <a:cs typeface="IBM Plex Sans"/>
              </a:rPr>
              <a:t>Administration &amp; roles</a:t>
            </a:r>
          </a:p>
          <a:p>
            <a:pPr>
              <a:spcBef>
                <a:spcPts val="200"/>
              </a:spcBef>
              <a:spcAft>
                <a:spcPts val="0"/>
              </a:spcAft>
            </a:pPr>
            <a:r>
              <a:rPr sz="1050" b="0" i="0">
                <a:solidFill>
                  <a:srgbClr val="4A4A4A"/>
                </a:solidFill>
                <a:latin typeface="IBM Plex Sans"/>
                <a:cs typeface="IBM Plex Sans"/>
              </a:rPr>
              <a:t>Admin → Dispatcher → Driver, full audit log.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6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72800" cy="1051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spcBef>
                <a:spcPts val="200"/>
              </a:spcBef>
              <a:spcAft>
                <a:spcPts val="100"/>
              </a:spcAft>
            </a:pPr>
            <a:r>
              <a:rPr sz="2200" b="1" i="0">
                <a:solidFill>
                  <a:srgbClr val="1B4332"/>
                </a:solidFill>
                <a:latin typeface="IBM Plex Sans Arabic"/>
                <a:cs typeface="IBM Plex Sans Arabic"/>
              </a:rPr>
              <a:t>إثبات الجاهزية التقنية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600" b="1" i="0">
                <a:solidFill>
                  <a:srgbClr val="7A7060"/>
                </a:solidFill>
                <a:latin typeface="IBM Plex Sans"/>
                <a:cs typeface="IBM Plex Sans"/>
              </a:rPr>
              <a:t>Proven &amp; Production-Ready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737360"/>
            <a:ext cx="274320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200"/>
              </a:spcBef>
              <a:spcAft>
                <a:spcPts val="100"/>
              </a:spcAft>
            </a:pPr>
            <a:r>
              <a:rPr sz="4000" b="1" i="0">
                <a:solidFill>
                  <a:srgbClr val="1B4332"/>
                </a:solidFill>
                <a:latin typeface="IBM Plex Sans"/>
                <a:cs typeface="IBM Plex Sans"/>
              </a:rPr>
              <a:t>26</a:t>
            </a:r>
          </a:p>
          <a:p>
            <a:pPr algn="l" rtl="1">
              <a:spcBef>
                <a:spcPts val="200"/>
              </a:spcBef>
              <a:spcAft>
                <a:spcPts val="0"/>
              </a:spcAft>
            </a:pPr>
            <a:r>
              <a:rPr sz="1250" b="1" i="0">
                <a:solidFill>
                  <a:srgbClr val="0D1B2A"/>
                </a:solidFill>
                <a:latin typeface="IBM Plex Sans Arabic"/>
                <a:cs typeface="IBM Plex Sans Arabic"/>
              </a:rPr>
              <a:t>منفذ API</a:t>
            </a:r>
          </a:p>
          <a:p>
            <a:pPr algn="l">
              <a:spcBef>
                <a:spcPts val="200"/>
              </a:spcBef>
              <a:spcAft>
                <a:spcPts val="0"/>
              </a:spcAft>
            </a:pPr>
            <a:r>
              <a:rPr sz="1050" b="0" i="0">
                <a:solidFill>
                  <a:srgbClr val="7A7060"/>
                </a:solidFill>
                <a:latin typeface="IBM Plex Sans"/>
                <a:cs typeface="IBM Plex Sans"/>
              </a:rPr>
              <a:t>API endpoints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520440" y="1737360"/>
            <a:ext cx="274320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200"/>
              </a:spcBef>
              <a:spcAft>
                <a:spcPts val="100"/>
              </a:spcAft>
            </a:pPr>
            <a:r>
              <a:rPr sz="4000" b="1" i="0">
                <a:solidFill>
                  <a:srgbClr val="C4B47E"/>
                </a:solidFill>
                <a:latin typeface="IBM Plex Sans"/>
                <a:cs typeface="IBM Plex Sans"/>
              </a:rPr>
              <a:t>500</a:t>
            </a:r>
          </a:p>
          <a:p>
            <a:pPr algn="l" rtl="1">
              <a:spcBef>
                <a:spcPts val="200"/>
              </a:spcBef>
              <a:spcAft>
                <a:spcPts val="0"/>
              </a:spcAft>
            </a:pPr>
            <a:r>
              <a:rPr sz="1250" b="1" i="0">
                <a:solidFill>
                  <a:srgbClr val="0D1B2A"/>
                </a:solidFill>
                <a:latin typeface="IBM Plex Sans Arabic"/>
                <a:cs typeface="IBM Plex Sans Arabic"/>
              </a:rPr>
              <a:t>سعة المركبات</a:t>
            </a:r>
          </a:p>
          <a:p>
            <a:pPr algn="l">
              <a:spcBef>
                <a:spcPts val="200"/>
              </a:spcBef>
              <a:spcAft>
                <a:spcPts val="0"/>
              </a:spcAft>
            </a:pPr>
            <a:r>
              <a:rPr sz="1050" b="0" i="0">
                <a:solidFill>
                  <a:srgbClr val="7A7060"/>
                </a:solidFill>
                <a:latin typeface="IBM Plex Sans"/>
                <a:cs typeface="IBM Plex Sans"/>
              </a:rPr>
              <a:t>vehicle capacity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737360"/>
            <a:ext cx="274320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200"/>
              </a:spcBef>
              <a:spcAft>
                <a:spcPts val="100"/>
              </a:spcAft>
            </a:pPr>
            <a:r>
              <a:rPr sz="4000" b="1" i="0">
                <a:solidFill>
                  <a:srgbClr val="2D9E6B"/>
                </a:solidFill>
                <a:latin typeface="IBM Plex Sans"/>
                <a:cs typeface="IBM Plex Sans"/>
              </a:rPr>
              <a:t>39 ms</a:t>
            </a:r>
          </a:p>
          <a:p>
            <a:pPr algn="l" rtl="1">
              <a:spcBef>
                <a:spcPts val="200"/>
              </a:spcBef>
              <a:spcAft>
                <a:spcPts val="0"/>
              </a:spcAft>
            </a:pPr>
            <a:r>
              <a:rPr sz="1250" b="1" i="0">
                <a:solidFill>
                  <a:srgbClr val="0D1B2A"/>
                </a:solidFill>
                <a:latin typeface="IBM Plex Sans Arabic"/>
                <a:cs typeface="IBM Plex Sans Arabic"/>
              </a:rPr>
              <a:t>زمن الاستجابة</a:t>
            </a:r>
          </a:p>
          <a:p>
            <a:pPr algn="l">
              <a:spcBef>
                <a:spcPts val="200"/>
              </a:spcBef>
              <a:spcAft>
                <a:spcPts val="0"/>
              </a:spcAft>
            </a:pPr>
            <a:r>
              <a:rPr sz="1050" b="0" i="0">
                <a:solidFill>
                  <a:srgbClr val="7A7060"/>
                </a:solidFill>
                <a:latin typeface="IBM Plex Sans"/>
                <a:cs typeface="IBM Plex Sans"/>
              </a:rPr>
              <a:t>median response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235440" y="1737360"/>
            <a:ext cx="274320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200"/>
              </a:spcBef>
              <a:spcAft>
                <a:spcPts val="100"/>
              </a:spcAft>
            </a:pPr>
            <a:r>
              <a:rPr sz="4000" b="1" i="0">
                <a:solidFill>
                  <a:srgbClr val="2D9E6B"/>
                </a:solidFill>
                <a:latin typeface="IBM Plex Sans"/>
                <a:cs typeface="IBM Plex Sans"/>
              </a:rPr>
              <a:t>0%</a:t>
            </a:r>
          </a:p>
          <a:p>
            <a:pPr algn="l" rtl="1">
              <a:spcBef>
                <a:spcPts val="200"/>
              </a:spcBef>
              <a:spcAft>
                <a:spcPts val="0"/>
              </a:spcAft>
            </a:pPr>
            <a:r>
              <a:rPr sz="1250" b="1" i="0">
                <a:solidFill>
                  <a:srgbClr val="0D1B2A"/>
                </a:solidFill>
                <a:latin typeface="IBM Plex Sans Arabic"/>
                <a:cs typeface="IBM Plex Sans Arabic"/>
              </a:rPr>
              <a:t>نسبة الخطأ</a:t>
            </a:r>
          </a:p>
          <a:p>
            <a:pPr algn="l">
              <a:spcBef>
                <a:spcPts val="200"/>
              </a:spcBef>
              <a:spcAft>
                <a:spcPts val="0"/>
              </a:spcAft>
            </a:pPr>
            <a:r>
              <a:rPr sz="1050" b="0" i="0">
                <a:solidFill>
                  <a:srgbClr val="7A7060"/>
                </a:solidFill>
                <a:latin typeface="IBM Plex Sans"/>
                <a:cs typeface="IBM Plex Sans"/>
              </a:rPr>
              <a:t>error rate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657600"/>
            <a:ext cx="109728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spcBef>
                <a:spcPts val="200"/>
              </a:spcBef>
              <a:spcAft>
                <a:spcPts val="600"/>
              </a:spcAft>
            </a:pPr>
            <a:r>
              <a:rPr sz="1250" b="0" i="0">
                <a:solidFill>
                  <a:srgbClr val="333333"/>
                </a:solidFill>
                <a:latin typeface="IBM Plex Sans Arabic"/>
                <a:cs typeface="IBM Plex Sans Arabic"/>
              </a:rPr>
              <a:t>النظام يعمل اليوم: 8 مسارات و42 موقفاً في دمشق، تغذية GTFS جاهزة، نشر بأمر واحد عبر Docker.  •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250" b="0" i="0">
                <a:solidFill>
                  <a:srgbClr val="333333"/>
                </a:solidFill>
                <a:latin typeface="IBM Plex Sans"/>
                <a:cs typeface="IBM Plex Sans"/>
              </a:rPr>
              <a:t>•  Live today: 8 Damascus routes, 42 stops, GTFS feed ready, one-command Docker deployment.</a:t>
            </a:r>
          </a:p>
          <a:p>
            <a:pPr algn="r" rtl="1">
              <a:spcBef>
                <a:spcPts val="200"/>
              </a:spcBef>
              <a:spcAft>
                <a:spcPts val="600"/>
              </a:spcAft>
            </a:pPr>
            <a:r>
              <a:rPr sz="1250" b="0" i="0">
                <a:solidFill>
                  <a:srgbClr val="333333"/>
                </a:solidFill>
                <a:latin typeface="IBM Plex Sans Arabic"/>
                <a:cs typeface="IBM Plex Sans Arabic"/>
              </a:rPr>
              <a:t>نطلب عقد نشر — لا تمويل بحث وتطوير.  •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250" b="0" i="0">
                <a:solidFill>
                  <a:srgbClr val="333333"/>
                </a:solidFill>
                <a:latin typeface="IBM Plex Sans"/>
                <a:cs typeface="IBM Plex Sans"/>
              </a:rPr>
              <a:t>•  We seek a deployment contract — not R&amp;D funding.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6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72800" cy="1051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spcBef>
                <a:spcPts val="200"/>
              </a:spcBef>
              <a:spcAft>
                <a:spcPts val="100"/>
              </a:spcAft>
            </a:pPr>
            <a:r>
              <a:rPr sz="2200" b="1" i="0">
                <a:solidFill>
                  <a:srgbClr val="1B4332"/>
                </a:solidFill>
                <a:latin typeface="IBM Plex Sans Arabic"/>
                <a:cs typeface="IBM Plex Sans Arabic"/>
              </a:rPr>
              <a:t>التسعير وعرض البرنامج التجريبي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600" b="1" i="0">
                <a:solidFill>
                  <a:srgbClr val="7A7060"/>
                </a:solidFill>
                <a:latin typeface="IBM Plex Sans"/>
                <a:cs typeface="IBM Plex Sans"/>
              </a:rPr>
              <a:t>Pricing &amp; Pilot Offer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80" y="1737360"/>
          <a:ext cx="6675119" cy="124358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002536"/>
                <a:gridCol w="1735531"/>
                <a:gridCol w="1468526"/>
                <a:gridCol w="1468526"/>
              </a:tblGrid>
              <a:tr h="310896">
                <a:tc>
                  <a:txBody>
                    <a:bodyPr wrap="square"/>
                    <a:lstStyle/>
                    <a:p>
                      <a:pPr algn="r" rtl="1"/>
                      <a:r>
                        <a:rPr sz="1050" b="1">
                          <a:solidFill>
                            <a:srgbClr val="F9F6EF"/>
                          </a:solidFill>
                          <a:latin typeface="IBM Plex Sans Arabic"/>
                          <a:cs typeface="IBM Plex Sans Arabic"/>
                        </a:rPr>
                        <a:t>الباقة / Tier</a:t>
                      </a:r>
                    </a:p>
                  </a:txBody>
                  <a:tcPr marL="82296" marR="82296" marT="18288" marB="18288" anchor="ctr">
                    <a:solidFill>
                      <a:srgbClr val="1B433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 rtl="1"/>
                      <a:r>
                        <a:rPr sz="1050" b="1">
                          <a:solidFill>
                            <a:srgbClr val="F9F6EF"/>
                          </a:solidFill>
                          <a:latin typeface="IBM Plex Sans Arabic"/>
                          <a:cs typeface="IBM Plex Sans Arabic"/>
                        </a:rPr>
                        <a:t>الأسطول / Fleet</a:t>
                      </a:r>
                    </a:p>
                  </a:txBody>
                  <a:tcPr marL="82296" marR="82296" marT="18288" marB="18288" anchor="ctr">
                    <a:solidFill>
                      <a:srgbClr val="1B433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 rtl="1"/>
                      <a:r>
                        <a:rPr sz="1050" b="1">
                          <a:solidFill>
                            <a:srgbClr val="F9F6EF"/>
                          </a:solidFill>
                          <a:latin typeface="IBM Plex Sans Arabic"/>
                          <a:cs typeface="IBM Plex Sans Arabic"/>
                        </a:rPr>
                        <a:t>شهرياً / Monthly</a:t>
                      </a:r>
                    </a:p>
                  </a:txBody>
                  <a:tcPr marL="82296" marR="82296" marT="18288" marB="18288" anchor="ctr">
                    <a:solidFill>
                      <a:srgbClr val="1B433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 rtl="1"/>
                      <a:r>
                        <a:rPr sz="1050" b="1">
                          <a:solidFill>
                            <a:srgbClr val="F9F6EF"/>
                          </a:solidFill>
                          <a:latin typeface="IBM Plex Sans Arabic"/>
                          <a:cs typeface="IBM Plex Sans Arabic"/>
                        </a:rPr>
                        <a:t>≈ بالليرة / new SYP</a:t>
                      </a:r>
                    </a:p>
                  </a:txBody>
                  <a:tcPr marL="82296" marR="82296" marT="18288" marB="18288" anchor="ctr">
                    <a:solidFill>
                      <a:srgbClr val="1B4332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222222"/>
                          </a:solidFill>
                          <a:latin typeface="IBM Plex Sans"/>
                          <a:cs typeface="IBM Plex Sans"/>
                        </a:rPr>
                        <a:t>Starter</a:t>
                      </a:r>
                    </a:p>
                  </a:txBody>
                  <a:tcPr marL="82296" marR="82296" marT="18288" marB="18288" anchor="ctr">
                    <a:solidFill>
                      <a:srgbClr val="F9F6E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222222"/>
                          </a:solidFill>
                          <a:latin typeface="IBM Plex Sans"/>
                          <a:cs typeface="IBM Plex Sans"/>
                        </a:rPr>
                        <a:t>≤ 50</a:t>
                      </a:r>
                    </a:p>
                  </a:txBody>
                  <a:tcPr marL="82296" marR="82296" marT="18288" marB="18288" anchor="ctr">
                    <a:solidFill>
                      <a:srgbClr val="F9F6E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222222"/>
                          </a:solidFill>
                          <a:latin typeface="IBM Plex Sans"/>
                          <a:cs typeface="IBM Plex Sans"/>
                        </a:rPr>
                        <a:t>$500</a:t>
                      </a:r>
                    </a:p>
                  </a:txBody>
                  <a:tcPr marL="82296" marR="82296" marT="18288" marB="18288" anchor="ctr">
                    <a:solidFill>
                      <a:srgbClr val="F9F6E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222222"/>
                          </a:solidFill>
                          <a:latin typeface="IBM Plex Sans"/>
                          <a:cs typeface="IBM Plex Sans"/>
                        </a:rPr>
                        <a:t>SYP 57,750</a:t>
                      </a:r>
                    </a:p>
                  </a:txBody>
                  <a:tcPr marL="82296" marR="82296" marT="18288" marB="18288" anchor="ctr">
                    <a:solidFill>
                      <a:srgbClr val="F9F6E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222222"/>
                          </a:solidFill>
                          <a:latin typeface="IBM Plex Sans"/>
                          <a:cs typeface="IBM Plex Sans"/>
                        </a:rPr>
                        <a:t>Professional</a:t>
                      </a:r>
                    </a:p>
                  </a:txBody>
                  <a:tcPr marL="82296" marR="82296" marT="18288" marB="18288" anchor="ctr">
                    <a:solidFill>
                      <a:srgbClr val="EFEDE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222222"/>
                          </a:solidFill>
                          <a:latin typeface="IBM Plex Sans"/>
                          <a:cs typeface="IBM Plex Sans"/>
                        </a:rPr>
                        <a:t>≤ 200</a:t>
                      </a:r>
                    </a:p>
                  </a:txBody>
                  <a:tcPr marL="82296" marR="82296" marT="18288" marB="18288" anchor="ctr">
                    <a:solidFill>
                      <a:srgbClr val="EFEDE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222222"/>
                          </a:solidFill>
                          <a:latin typeface="IBM Plex Sans"/>
                          <a:cs typeface="IBM Plex Sans"/>
                        </a:rPr>
                        <a:t>$1,500</a:t>
                      </a:r>
                    </a:p>
                  </a:txBody>
                  <a:tcPr marL="82296" marR="82296" marT="18288" marB="18288" anchor="ctr">
                    <a:solidFill>
                      <a:srgbClr val="EFEDE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222222"/>
                          </a:solidFill>
                          <a:latin typeface="IBM Plex Sans"/>
                          <a:cs typeface="IBM Plex Sans"/>
                        </a:rPr>
                        <a:t>SYP 173,250</a:t>
                      </a:r>
                    </a:p>
                  </a:txBody>
                  <a:tcPr marL="82296" marR="82296" marT="18288" marB="18288" anchor="ctr">
                    <a:solidFill>
                      <a:srgbClr val="EFEDE4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222222"/>
                          </a:solidFill>
                          <a:latin typeface="IBM Plex Sans"/>
                          <a:cs typeface="IBM Plex Sans"/>
                        </a:rPr>
                        <a:t>Enterprise</a:t>
                      </a:r>
                    </a:p>
                  </a:txBody>
                  <a:tcPr marL="82296" marR="82296" marT="18288" marB="18288" anchor="ctr">
                    <a:solidFill>
                      <a:srgbClr val="F9F6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 rtl="1"/>
                      <a:r>
                        <a:rPr sz="1050" b="0">
                          <a:solidFill>
                            <a:srgbClr val="222222"/>
                          </a:solidFill>
                          <a:latin typeface="IBM Plex Sans Arabic"/>
                          <a:cs typeface="IBM Plex Sans Arabic"/>
                        </a:rPr>
                        <a:t>غير محدود / Unlimited</a:t>
                      </a:r>
                    </a:p>
                  </a:txBody>
                  <a:tcPr marL="82296" marR="82296" marT="18288" marB="18288" anchor="ctr">
                    <a:solidFill>
                      <a:srgbClr val="F9F6E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222222"/>
                          </a:solidFill>
                          <a:latin typeface="IBM Plex Sans"/>
                          <a:cs typeface="IBM Plex Sans"/>
                        </a:rPr>
                        <a:t>$5,000+</a:t>
                      </a:r>
                    </a:p>
                  </a:txBody>
                  <a:tcPr marL="82296" marR="82296" marT="18288" marB="18288" anchor="ctr">
                    <a:solidFill>
                      <a:srgbClr val="F9F6E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222222"/>
                          </a:solidFill>
                          <a:latin typeface="IBM Plex Sans"/>
                          <a:cs typeface="IBM Plex Sans"/>
                        </a:rPr>
                        <a:t>SYP 577,500</a:t>
                      </a:r>
                    </a:p>
                  </a:txBody>
                  <a:tcPr marL="82296" marR="82296" marT="18288" marB="18288" anchor="ctr">
                    <a:solidFill>
                      <a:srgbClr val="F9F6EF"/>
                    </a:solidFill>
                  </a:tcPr>
                </a:tc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7635240" y="1737360"/>
            <a:ext cx="3913632" cy="2423160"/>
          </a:xfrm>
          <a:prstGeom prst="roundRect">
            <a:avLst/>
          </a:prstGeom>
          <a:solidFill>
            <a:srgbClr val="1B43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882127" y="1938528"/>
            <a:ext cx="3456432" cy="2103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spcBef>
                <a:spcPts val="200"/>
              </a:spcBef>
              <a:spcAft>
                <a:spcPts val="200"/>
              </a:spcAft>
            </a:pPr>
            <a:r>
              <a:rPr sz="1500" b="1" i="0">
                <a:solidFill>
                  <a:srgbClr val="C4B47E"/>
                </a:solidFill>
                <a:latin typeface="IBM Plex Sans Arabic"/>
                <a:cs typeface="IBM Plex Sans Arabic"/>
              </a:rPr>
              <a:t>البرنامج التجريبي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300" b="1" i="0">
                <a:solidFill>
                  <a:srgbClr val="F9F6EF"/>
                </a:solidFill>
                <a:latin typeface="IBM Plex Sans"/>
                <a:cs typeface="IBM Plex Sans"/>
              </a:rPr>
              <a:t>Pilot Program</a:t>
            </a:r>
          </a:p>
          <a:p>
            <a:pPr algn="r" rtl="1">
              <a:spcBef>
                <a:spcPts val="600"/>
              </a:spcBef>
              <a:spcAft>
                <a:spcPts val="200"/>
              </a:spcAft>
            </a:pPr>
            <a:r>
              <a:rPr sz="1200" b="0" i="0">
                <a:solidFill>
                  <a:srgbClr val="F9F6EF"/>
                </a:solidFill>
                <a:latin typeface="IBM Plex Sans Arabic"/>
                <a:cs typeface="IBM Plex Sans Arabic"/>
              </a:rPr>
              <a:t>50 مركبة · 3 مسارات · 6 أشهر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150" b="0" i="0">
                <a:solidFill>
                  <a:srgbClr val="D9D5CC"/>
                </a:solidFill>
                <a:latin typeface="IBM Plex Sans"/>
                <a:cs typeface="IBM Plex Sans"/>
              </a:rPr>
              <a:t>50 vehicles · 3 routes · 6 months</a:t>
            </a:r>
          </a:p>
          <a:p>
            <a:pPr>
              <a:spcBef>
                <a:spcPts val="800"/>
              </a:spcBef>
              <a:spcAft>
                <a:spcPts val="200"/>
              </a:spcAft>
            </a:pPr>
            <a:r>
              <a:rPr sz="1700" b="1" i="0">
                <a:solidFill>
                  <a:srgbClr val="C4B47E"/>
                </a:solidFill>
                <a:latin typeface="IBM Plex Sans"/>
                <a:cs typeface="IBM Plex Sans"/>
              </a:rPr>
              <a:t>$3,000  (≈ SYP 346,500)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4434840"/>
            <a:ext cx="10972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spcBef>
                <a:spcPts val="200"/>
              </a:spcBef>
              <a:spcAft>
                <a:spcPts val="200"/>
              </a:spcAft>
            </a:pPr>
            <a:r>
              <a:rPr sz="1050" b="0" i="0">
                <a:solidFill>
                  <a:srgbClr val="7A7060"/>
                </a:solidFill>
                <a:latin typeface="IBM Plex Sans Arabic"/>
                <a:cs typeface="IBM Plex Sans Arabic"/>
              </a:rPr>
              <a:t>العملة التعاقدية بالدولار؛ مبالغ الليرة استرشادية بسعر ~115.5 ل.س/دولار (الليرة الجديدة، حزيران 2026).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000" b="0" i="0">
                <a:solidFill>
                  <a:srgbClr val="7A7060"/>
                </a:solidFill>
                <a:latin typeface="IBM Plex Sans"/>
                <a:cs typeface="IBM Plex Sans"/>
              </a:rPr>
              <a:t>Contract currency is USD; new-SYP amounts are indicative at ~115.5 SYP/USD (post-redenomination, June 2026).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6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72800" cy="1051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spcBef>
                <a:spcPts val="200"/>
              </a:spcBef>
              <a:spcAft>
                <a:spcPts val="100"/>
              </a:spcAft>
            </a:pPr>
            <a:r>
              <a:rPr sz="2200" b="1" i="0">
                <a:solidFill>
                  <a:srgbClr val="1B4332"/>
                </a:solidFill>
                <a:latin typeface="IBM Plex Sans Arabic"/>
                <a:cs typeface="IBM Plex Sans Arabic"/>
              </a:rPr>
              <a:t>العائد على الاستثمار للوزارة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600" b="1" i="0">
                <a:solidFill>
                  <a:srgbClr val="7A7060"/>
                </a:solidFill>
                <a:latin typeface="IBM Plex Sans"/>
                <a:cs typeface="IBM Plex Sans"/>
              </a:rPr>
              <a:t>Return on Investment — for the Ministry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737360"/>
            <a:ext cx="292608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200"/>
              </a:spcBef>
              <a:spcAft>
                <a:spcPts val="100"/>
              </a:spcAft>
            </a:pPr>
            <a:r>
              <a:rPr sz="4000" b="1" i="0">
                <a:solidFill>
                  <a:srgbClr val="2D9E6B"/>
                </a:solidFill>
                <a:latin typeface="IBM Plex Sans"/>
                <a:cs typeface="IBM Plex Sans"/>
              </a:rPr>
              <a:t>11–14×</a:t>
            </a:r>
          </a:p>
          <a:p>
            <a:pPr algn="l" rtl="1">
              <a:spcBef>
                <a:spcPts val="200"/>
              </a:spcBef>
              <a:spcAft>
                <a:spcPts val="0"/>
              </a:spcAft>
            </a:pPr>
            <a:r>
              <a:rPr sz="1250" b="1" i="0">
                <a:solidFill>
                  <a:srgbClr val="0D1B2A"/>
                </a:solidFill>
                <a:latin typeface="IBM Plex Sans Arabic"/>
                <a:cs typeface="IBM Plex Sans Arabic"/>
              </a:rPr>
              <a:t>عائد البرنامج التجريبي</a:t>
            </a:r>
          </a:p>
          <a:p>
            <a:pPr algn="l">
              <a:spcBef>
                <a:spcPts val="200"/>
              </a:spcBef>
              <a:spcAft>
                <a:spcPts val="0"/>
              </a:spcAft>
            </a:pPr>
            <a:r>
              <a:rPr sz="1050" b="0" i="0">
                <a:solidFill>
                  <a:srgbClr val="7A7060"/>
                </a:solidFill>
                <a:latin typeface="IBM Plex Sans"/>
                <a:cs typeface="IBM Plex Sans"/>
              </a:rPr>
              <a:t>pilot return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931920" y="1737360"/>
            <a:ext cx="292608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200"/>
              </a:spcBef>
              <a:spcAft>
                <a:spcPts val="100"/>
              </a:spcAft>
            </a:pPr>
            <a:r>
              <a:rPr sz="4000" b="1" i="0">
                <a:solidFill>
                  <a:srgbClr val="1B4332"/>
                </a:solidFill>
                <a:latin typeface="IBM Plex Sans"/>
                <a:cs typeface="IBM Plex Sans"/>
              </a:rPr>
              <a:t>Month 1</a:t>
            </a:r>
          </a:p>
          <a:p>
            <a:pPr algn="l" rtl="1">
              <a:spcBef>
                <a:spcPts val="200"/>
              </a:spcBef>
              <a:spcAft>
                <a:spcPts val="0"/>
              </a:spcAft>
            </a:pPr>
            <a:r>
              <a:rPr sz="1250" b="1" i="0">
                <a:solidFill>
                  <a:srgbClr val="0D1B2A"/>
                </a:solidFill>
                <a:latin typeface="IBM Plex Sans Arabic"/>
                <a:cs typeface="IBM Plex Sans Arabic"/>
              </a:rPr>
              <a:t>نقطة التعادل</a:t>
            </a:r>
          </a:p>
          <a:p>
            <a:pPr algn="l">
              <a:spcBef>
                <a:spcPts val="200"/>
              </a:spcBef>
              <a:spcAft>
                <a:spcPts val="0"/>
              </a:spcAft>
            </a:pPr>
            <a:r>
              <a:rPr sz="1050" b="0" i="0">
                <a:solidFill>
                  <a:srgbClr val="7A7060"/>
                </a:solidFill>
                <a:latin typeface="IBM Plex Sans"/>
                <a:cs typeface="IBM Plex Sans"/>
              </a:rPr>
              <a:t>break-even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23760" y="1737360"/>
            <a:ext cx="310896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200"/>
              </a:spcBef>
              <a:spcAft>
                <a:spcPts val="100"/>
              </a:spcAft>
            </a:pPr>
            <a:r>
              <a:rPr sz="4000" b="1" i="0">
                <a:solidFill>
                  <a:srgbClr val="C4B47E"/>
                </a:solidFill>
                <a:latin typeface="IBM Plex Sans"/>
                <a:cs typeface="IBM Plex Sans"/>
              </a:rPr>
              <a:t>$33–43k</a:t>
            </a:r>
          </a:p>
          <a:p>
            <a:pPr algn="l" rtl="1">
              <a:spcBef>
                <a:spcPts val="200"/>
              </a:spcBef>
              <a:spcAft>
                <a:spcPts val="0"/>
              </a:spcAft>
            </a:pPr>
            <a:r>
              <a:rPr sz="1250" b="1" i="0">
                <a:solidFill>
                  <a:srgbClr val="0D1B2A"/>
                </a:solidFill>
                <a:latin typeface="IBM Plex Sans Arabic"/>
                <a:cs typeface="IBM Plex Sans Arabic"/>
              </a:rPr>
              <a:t>وفورات سنوية</a:t>
            </a:r>
          </a:p>
          <a:p>
            <a:pPr algn="l">
              <a:spcBef>
                <a:spcPts val="200"/>
              </a:spcBef>
              <a:spcAft>
                <a:spcPts val="0"/>
              </a:spcAft>
            </a:pPr>
            <a:r>
              <a:rPr sz="1050" b="0" i="0">
                <a:solidFill>
                  <a:srgbClr val="7A7060"/>
                </a:solidFill>
                <a:latin typeface="IBM Plex Sans"/>
                <a:cs typeface="IBM Plex Sans"/>
              </a:rPr>
              <a:t>annual savings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3566160"/>
          <a:ext cx="7680959" cy="124358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069433"/>
                <a:gridCol w="2611526"/>
              </a:tblGrid>
              <a:tr h="310896">
                <a:tc>
                  <a:txBody>
                    <a:bodyPr wrap="square"/>
                    <a:lstStyle/>
                    <a:p>
                      <a:pPr algn="r" rtl="1"/>
                      <a:r>
                        <a:rPr sz="1050" b="1">
                          <a:solidFill>
                            <a:srgbClr val="F9F6EF"/>
                          </a:solidFill>
                          <a:latin typeface="IBM Plex Sans Arabic"/>
                          <a:cs typeface="IBM Plex Sans Arabic"/>
                        </a:rPr>
                        <a:t>مصدر الوفر / Saving source</a:t>
                      </a:r>
                    </a:p>
                  </a:txBody>
                  <a:tcPr marL="82296" marR="82296" marT="18288" marB="18288" anchor="ctr">
                    <a:solidFill>
                      <a:srgbClr val="1B433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 rtl="1"/>
                      <a:r>
                        <a:rPr sz="1050" b="1">
                          <a:solidFill>
                            <a:srgbClr val="F9F6EF"/>
                          </a:solidFill>
                          <a:latin typeface="IBM Plex Sans Arabic"/>
                          <a:cs typeface="IBM Plex Sans Arabic"/>
                        </a:rPr>
                        <a:t>سنوياً / Per year (USD)</a:t>
                      </a:r>
                    </a:p>
                  </a:txBody>
                  <a:tcPr marL="82296" marR="82296" marT="18288" marB="18288" anchor="ctr">
                    <a:solidFill>
                      <a:srgbClr val="1B4332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r" rtl="1"/>
                      <a:r>
                        <a:rPr sz="1050" b="0">
                          <a:solidFill>
                            <a:srgbClr val="222222"/>
                          </a:solidFill>
                          <a:latin typeface="IBM Plex Sans Arabic"/>
                          <a:cs typeface="IBM Plex Sans Arabic"/>
                        </a:rPr>
                        <a:t>خفض هدر الوقود ~17% / Fuel-waste reduction</a:t>
                      </a:r>
                    </a:p>
                  </a:txBody>
                  <a:tcPr marL="82296" marR="82296" marT="18288" marB="18288" anchor="ctr">
                    <a:solidFill>
                      <a:srgbClr val="F9F6E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222222"/>
                          </a:solidFill>
                          <a:latin typeface="IBM Plex Sans"/>
                          <a:cs typeface="IBM Plex Sans"/>
                        </a:rPr>
                        <a:t>$15,000 – $25,000</a:t>
                      </a:r>
                    </a:p>
                  </a:txBody>
                  <a:tcPr marL="82296" marR="82296" marT="18288" marB="18288" anchor="ctr">
                    <a:solidFill>
                      <a:srgbClr val="F9F6E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r" rtl="1"/>
                      <a:r>
                        <a:rPr sz="1050" b="0">
                          <a:solidFill>
                            <a:srgbClr val="222222"/>
                          </a:solidFill>
                          <a:latin typeface="IBM Plex Sans Arabic"/>
                          <a:cs typeface="IBM Plex Sans Arabic"/>
                        </a:rPr>
                        <a:t>خفض توقّف المركبات / Less vehicle downtime</a:t>
                      </a:r>
                    </a:p>
                  </a:txBody>
                  <a:tcPr marL="82296" marR="82296" marT="18288" marB="18288" anchor="ctr">
                    <a:solidFill>
                      <a:srgbClr val="EFEDE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222222"/>
                          </a:solidFill>
                          <a:latin typeface="IBM Plex Sans"/>
                          <a:cs typeface="IBM Plex Sans"/>
                        </a:rPr>
                        <a:t>~$10,000</a:t>
                      </a:r>
                    </a:p>
                  </a:txBody>
                  <a:tcPr marL="82296" marR="82296" marT="18288" marB="18288" anchor="ctr">
                    <a:solidFill>
                      <a:srgbClr val="EFEDE4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r" rtl="1"/>
                      <a:r>
                        <a:rPr sz="1050" b="0">
                          <a:solidFill>
                            <a:srgbClr val="222222"/>
                          </a:solidFill>
                          <a:latin typeface="IBM Plex Sans Arabic"/>
                          <a:cs typeface="IBM Plex Sans Arabic"/>
                        </a:rPr>
                        <a:t>إلغاء التقارير اليدوية / Manual reporting eliminated</a:t>
                      </a:r>
                    </a:p>
                  </a:txBody>
                  <a:tcPr marL="82296" marR="82296" marT="18288" marB="18288" anchor="ctr">
                    <a:solidFill>
                      <a:srgbClr val="F9F6E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222222"/>
                          </a:solidFill>
                          <a:latin typeface="IBM Plex Sans"/>
                          <a:cs typeface="IBM Plex Sans"/>
                        </a:rPr>
                        <a:t>~$8,000</a:t>
                      </a:r>
                    </a:p>
                  </a:txBody>
                  <a:tcPr marL="82296" marR="82296" marT="18288" marB="18288" anchor="ctr">
                    <a:solidFill>
                      <a:srgbClr val="F9F6E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8503920" y="3566160"/>
            <a:ext cx="301752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spcBef>
                <a:spcPts val="200"/>
              </a:spcBef>
              <a:spcAft>
                <a:spcPts val="200"/>
              </a:spcAft>
            </a:pPr>
            <a:r>
              <a:rPr sz="1300" b="1" i="0">
                <a:solidFill>
                  <a:srgbClr val="1B4332"/>
                </a:solidFill>
                <a:latin typeface="IBM Plex Sans Arabic"/>
                <a:cs typeface="IBM Plex Sans Arabic"/>
              </a:rPr>
              <a:t>يفتح تمويلاً دولياً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200" b="1" i="0">
                <a:solidFill>
                  <a:srgbClr val="0D1B2A"/>
                </a:solidFill>
                <a:latin typeface="IBM Plex Sans"/>
                <a:cs typeface="IBM Plex Sans"/>
              </a:rPr>
              <a:t>Unlocks grant funding</a:t>
            </a:r>
          </a:p>
          <a:p>
            <a:pPr>
              <a:spcBef>
                <a:spcPts val="600"/>
              </a:spcBef>
              <a:spcAft>
                <a:spcPts val="200"/>
              </a:spcAft>
            </a:pPr>
            <a:r>
              <a:rPr sz="2000" b="1" i="0">
                <a:solidFill>
                  <a:srgbClr val="C4B47E"/>
                </a:solidFill>
                <a:latin typeface="IBM Plex Sans"/>
                <a:cs typeface="IBM Plex Sans"/>
              </a:rPr>
              <a:t>$149k – $530k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100" b="0" i="0">
                <a:solidFill>
                  <a:srgbClr val="7A7060"/>
                </a:solidFill>
                <a:latin typeface="IBM Plex Sans"/>
                <a:cs typeface="IBM Plex Sans"/>
              </a:rPr>
              <a:t>World Bank · UNDP · EU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6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72800" cy="1051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spcBef>
                <a:spcPts val="200"/>
              </a:spcBef>
              <a:spcAft>
                <a:spcPts val="100"/>
              </a:spcAft>
            </a:pPr>
            <a:r>
              <a:rPr sz="2200" b="1" i="0">
                <a:solidFill>
                  <a:srgbClr val="1B4332"/>
                </a:solidFill>
                <a:latin typeface="IBM Plex Sans Arabic"/>
                <a:cs typeface="IBM Plex Sans Arabic"/>
              </a:rPr>
              <a:t>خطة التنفيذ — 16 أسبوعاً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600" b="1" i="0">
                <a:solidFill>
                  <a:srgbClr val="7A7060"/>
                </a:solidFill>
                <a:latin typeface="IBM Plex Sans"/>
                <a:cs typeface="IBM Plex Sans"/>
              </a:rPr>
              <a:t>Implementation Timeline — 16 Weeks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80" y="1737360"/>
          <a:ext cx="10881359" cy="345643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741017"/>
                <a:gridCol w="9140342"/>
              </a:tblGrid>
              <a:tr h="384048">
                <a:tc>
                  <a:txBody>
                    <a:bodyPr wrap="square"/>
                    <a:lstStyle/>
                    <a:p>
                      <a:pPr algn="r" rtl="1"/>
                      <a:r>
                        <a:rPr sz="1050" b="1">
                          <a:solidFill>
                            <a:srgbClr val="F9F6EF"/>
                          </a:solidFill>
                          <a:latin typeface="IBM Plex Sans Arabic"/>
                          <a:cs typeface="IBM Plex Sans Arabic"/>
                        </a:rPr>
                        <a:t>الأسبوع / Week</a:t>
                      </a:r>
                    </a:p>
                  </a:txBody>
                  <a:tcPr marL="82296" marR="82296" marT="18288" marB="18288" anchor="ctr">
                    <a:solidFill>
                      <a:srgbClr val="1B433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 rtl="1"/>
                      <a:r>
                        <a:rPr sz="1050" b="1">
                          <a:solidFill>
                            <a:srgbClr val="F9F6EF"/>
                          </a:solidFill>
                          <a:latin typeface="IBM Plex Sans Arabic"/>
                          <a:cs typeface="IBM Plex Sans Arabic"/>
                        </a:rPr>
                        <a:t>المرحلة / Milestone</a:t>
                      </a:r>
                    </a:p>
                  </a:txBody>
                  <a:tcPr marL="82296" marR="82296" marT="18288" marB="18288" anchor="ctr">
                    <a:solidFill>
                      <a:srgbClr val="1B4332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222222"/>
                          </a:solidFill>
                          <a:latin typeface="IBM Plex Sans"/>
                          <a:cs typeface="IBM Plex Sans"/>
                        </a:rPr>
                        <a:t>1</a:t>
                      </a:r>
                    </a:p>
                  </a:txBody>
                  <a:tcPr marL="82296" marR="82296" marT="18288" marB="18288" anchor="ctr">
                    <a:solidFill>
                      <a:srgbClr val="F9F6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 rtl="1"/>
                      <a:r>
                        <a:rPr sz="1050" b="0">
                          <a:solidFill>
                            <a:srgbClr val="222222"/>
                          </a:solidFill>
                          <a:latin typeface="IBM Plex Sans Arabic"/>
                          <a:cs typeface="IBM Plex Sans Arabic"/>
                        </a:rPr>
                        <a:t>توقيع مذكّرة التفاهم / MoU signing</a:t>
                      </a:r>
                    </a:p>
                  </a:txBody>
                  <a:tcPr marL="82296" marR="82296" marT="18288" marB="18288" anchor="ctr">
                    <a:solidFill>
                      <a:srgbClr val="F9F6E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222222"/>
                          </a:solidFill>
                          <a:latin typeface="IBM Plex Sans"/>
                          <a:cs typeface="IBM Plex Sans"/>
                        </a:rPr>
                        <a:t>2–3</a:t>
                      </a:r>
                    </a:p>
                  </a:txBody>
                  <a:tcPr marL="82296" marR="82296" marT="18288" marB="18288" anchor="ctr">
                    <a:solidFill>
                      <a:srgbClr val="EFEDE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 rtl="1"/>
                      <a:r>
                        <a:rPr sz="1050" b="0">
                          <a:solidFill>
                            <a:srgbClr val="222222"/>
                          </a:solidFill>
                          <a:latin typeface="IBM Plex Sans Arabic"/>
                          <a:cs typeface="IBM Plex Sans Arabic"/>
                        </a:rPr>
                        <a:t>شراء وحدات GPS / GPS procurement (50 units)</a:t>
                      </a:r>
                    </a:p>
                  </a:txBody>
                  <a:tcPr marL="82296" marR="82296" marT="18288" marB="18288" anchor="ctr">
                    <a:solidFill>
                      <a:srgbClr val="EFEDE4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222222"/>
                          </a:solidFill>
                          <a:latin typeface="IBM Plex Sans"/>
                          <a:cs typeface="IBM Plex Sans"/>
                        </a:rPr>
                        <a:t>4</a:t>
                      </a:r>
                    </a:p>
                  </a:txBody>
                  <a:tcPr marL="82296" marR="82296" marT="18288" marB="18288" anchor="ctr">
                    <a:solidFill>
                      <a:srgbClr val="F9F6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 rtl="1"/>
                      <a:r>
                        <a:rPr sz="1050" b="0">
                          <a:solidFill>
                            <a:srgbClr val="222222"/>
                          </a:solidFill>
                          <a:latin typeface="IBM Plex Sans Arabic"/>
                          <a:cs typeface="IBM Plex Sans Arabic"/>
                        </a:rPr>
                        <a:t>نشر الخادم وحسابات الوزارة / Platform live, Ministry accounts</a:t>
                      </a:r>
                    </a:p>
                  </a:txBody>
                  <a:tcPr marL="82296" marR="82296" marT="18288" marB="18288" anchor="ctr">
                    <a:solidFill>
                      <a:srgbClr val="F9F6E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222222"/>
                          </a:solidFill>
                          <a:latin typeface="IBM Plex Sans"/>
                          <a:cs typeface="IBM Plex Sans"/>
                        </a:rPr>
                        <a:t>5–8</a:t>
                      </a:r>
                    </a:p>
                  </a:txBody>
                  <a:tcPr marL="82296" marR="82296" marT="18288" marB="18288" anchor="ctr">
                    <a:solidFill>
                      <a:srgbClr val="EFEDE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 rtl="1"/>
                      <a:r>
                        <a:rPr sz="1050" b="0">
                          <a:solidFill>
                            <a:srgbClr val="222222"/>
                          </a:solidFill>
                          <a:latin typeface="IBM Plex Sans Arabic"/>
                          <a:cs typeface="IBM Plex Sans Arabic"/>
                        </a:rPr>
                        <a:t>التركيب والتتبّع الحيّ / Install + all 50 vehicles live</a:t>
                      </a:r>
                    </a:p>
                  </a:txBody>
                  <a:tcPr marL="82296" marR="82296" marT="18288" marB="18288" anchor="ctr">
                    <a:solidFill>
                      <a:srgbClr val="EFEDE4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222222"/>
                          </a:solidFill>
                          <a:latin typeface="IBM Plex Sans"/>
                          <a:cs typeface="IBM Plex Sans"/>
                        </a:rPr>
                        <a:t>9–10</a:t>
                      </a:r>
                    </a:p>
                  </a:txBody>
                  <a:tcPr marL="82296" marR="82296" marT="18288" marB="18288" anchor="ctr">
                    <a:solidFill>
                      <a:srgbClr val="F9F6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 rtl="1"/>
                      <a:r>
                        <a:rPr sz="1050" b="0">
                          <a:solidFill>
                            <a:srgbClr val="222222"/>
                          </a:solidFill>
                          <a:latin typeface="IBM Plex Sans Arabic"/>
                          <a:cs typeface="IBM Plex Sans Arabic"/>
                        </a:rPr>
                        <a:t>تدريب مرسلي الوزارة (4 جلسات) / Dispatcher training (Arabic, 4 sessions)</a:t>
                      </a:r>
                    </a:p>
                  </a:txBody>
                  <a:tcPr marL="82296" marR="82296" marT="18288" marB="18288" anchor="ctr">
                    <a:solidFill>
                      <a:srgbClr val="F9F6E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222222"/>
                          </a:solidFill>
                          <a:latin typeface="IBM Plex Sans"/>
                          <a:cs typeface="IBM Plex Sans"/>
                        </a:rPr>
                        <a:t>11–12</a:t>
                      </a:r>
                    </a:p>
                  </a:txBody>
                  <a:tcPr marL="82296" marR="82296" marT="18288" marB="18288" anchor="ctr">
                    <a:solidFill>
                      <a:srgbClr val="EFEDE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 rtl="1"/>
                      <a:r>
                        <a:rPr sz="1050" b="0">
                          <a:solidFill>
                            <a:srgbClr val="222222"/>
                          </a:solidFill>
                          <a:latin typeface="IBM Plex Sans Arabic"/>
                          <a:cs typeface="IBM Plex Sans Arabic"/>
                        </a:rPr>
                        <a:t>رفع تغذية GTFS إلى خرائط Google / GTFS submitted to Google Maps</a:t>
                      </a:r>
                    </a:p>
                  </a:txBody>
                  <a:tcPr marL="82296" marR="82296" marT="18288" marB="18288" anchor="ctr">
                    <a:solidFill>
                      <a:srgbClr val="EFEDE4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222222"/>
                          </a:solidFill>
                          <a:latin typeface="IBM Plex Sans"/>
                          <a:cs typeface="IBM Plex Sans"/>
                        </a:rPr>
                        <a:t>13–14</a:t>
                      </a:r>
                    </a:p>
                  </a:txBody>
                  <a:tcPr marL="82296" marR="82296" marT="18288" marB="18288" anchor="ctr">
                    <a:solidFill>
                      <a:srgbClr val="F9F6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 rtl="1"/>
                      <a:r>
                        <a:rPr sz="1050" b="0">
                          <a:solidFill>
                            <a:srgbClr val="222222"/>
                          </a:solidFill>
                          <a:latin typeface="IBM Plex Sans Arabic"/>
                          <a:cs typeface="IBM Plex Sans Arabic"/>
                        </a:rPr>
                        <a:t>إطلاق تطبيق الركّاب / Passenger app launched</a:t>
                      </a:r>
                    </a:p>
                  </a:txBody>
                  <a:tcPr marL="82296" marR="82296" marT="18288" marB="18288" anchor="ctr">
                    <a:solidFill>
                      <a:srgbClr val="F9F6E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222222"/>
                          </a:solidFill>
                          <a:latin typeface="IBM Plex Sans"/>
                          <a:cs typeface="IBM Plex Sans"/>
                        </a:rPr>
                        <a:t>15–16</a:t>
                      </a:r>
                    </a:p>
                  </a:txBody>
                  <a:tcPr marL="82296" marR="82296" marT="18288" marB="18288" anchor="ctr">
                    <a:solidFill>
                      <a:srgbClr val="EFEDE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 rtl="1"/>
                      <a:r>
                        <a:rPr sz="1050" b="0">
                          <a:solidFill>
                            <a:srgbClr val="222222"/>
                          </a:solidFill>
                          <a:latin typeface="IBM Plex Sans Arabic"/>
                          <a:cs typeface="IBM Plex Sans Arabic"/>
                        </a:rPr>
                        <a:t>عرض حيّ وقرار الاستمرار / Live demo + Go/No-Go decision</a:t>
                      </a:r>
                    </a:p>
                  </a:txBody>
                  <a:tcPr marL="82296" marR="82296" marT="18288" marB="18288" anchor="ctr">
                    <a:solidFill>
                      <a:srgbClr val="EFEDE4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6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72800" cy="1051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spcBef>
                <a:spcPts val="200"/>
              </a:spcBef>
              <a:spcAft>
                <a:spcPts val="100"/>
              </a:spcAft>
            </a:pPr>
            <a:r>
              <a:rPr sz="2200" b="1" i="0">
                <a:solidFill>
                  <a:srgbClr val="1B4332"/>
                </a:solidFill>
                <a:latin typeface="IBM Plex Sans Arabic"/>
                <a:cs typeface="IBM Plex Sans Arabic"/>
              </a:rPr>
              <a:t>الميزة التنافسية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600" b="1" i="0">
                <a:solidFill>
                  <a:srgbClr val="7A7060"/>
                </a:solidFill>
                <a:latin typeface="IBM Plex Sans"/>
                <a:cs typeface="IBM Plex Sans"/>
              </a:rPr>
              <a:t>Competitive Advantage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80" y="1737360"/>
          <a:ext cx="10881359" cy="15544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699662"/>
                <a:gridCol w="2393899"/>
                <a:gridCol w="4787798"/>
              </a:tblGrid>
              <a:tr h="310896">
                <a:tc>
                  <a:txBody>
                    <a:bodyPr wrap="square"/>
                    <a:lstStyle/>
                    <a:p>
                      <a:pPr algn="r" rtl="1"/>
                      <a:r>
                        <a:rPr sz="1000" b="1">
                          <a:solidFill>
                            <a:srgbClr val="F9F6EF"/>
                          </a:solidFill>
                          <a:latin typeface="IBM Plex Sans Arabic"/>
                          <a:cs typeface="IBM Plex Sans Arabic"/>
                        </a:rPr>
                        <a:t>المنصّة / Platform</a:t>
                      </a:r>
                    </a:p>
                  </a:txBody>
                  <a:tcPr marL="82296" marR="82296" marT="18288" marB="18288" anchor="ctr">
                    <a:solidFill>
                      <a:srgbClr val="1B433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 rtl="1"/>
                      <a:r>
                        <a:rPr sz="1000" b="1">
                          <a:solidFill>
                            <a:srgbClr val="F9F6EF"/>
                          </a:solidFill>
                          <a:latin typeface="IBM Plex Sans Arabic"/>
                          <a:cs typeface="IBM Plex Sans Arabic"/>
                        </a:rPr>
                        <a:t>$/مركبة/شهر · $/veh/mo</a:t>
                      </a:r>
                    </a:p>
                  </a:txBody>
                  <a:tcPr marL="82296" marR="82296" marT="18288" marB="18288" anchor="ctr">
                    <a:solidFill>
                      <a:srgbClr val="1B433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 rtl="1"/>
                      <a:r>
                        <a:rPr sz="1000" b="1">
                          <a:solidFill>
                            <a:srgbClr val="F9F6EF"/>
                          </a:solidFill>
                          <a:latin typeface="IBM Plex Sans Arabic"/>
                          <a:cs typeface="IBM Plex Sans Arabic"/>
                        </a:rPr>
                        <a:t>قابلة للتطبيق في سورية / Syria-feasible</a:t>
                      </a:r>
                    </a:p>
                  </a:txBody>
                  <a:tcPr marL="82296" marR="82296" marT="18288" marB="18288" anchor="ctr">
                    <a:solidFill>
                      <a:srgbClr val="1B4332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r" rtl="1"/>
                      <a:r>
                        <a:rPr sz="1000" b="0">
                          <a:solidFill>
                            <a:srgbClr val="222222"/>
                          </a:solidFill>
                          <a:latin typeface="IBM Plex Sans Arabic"/>
                          <a:cs typeface="IBM Plex Sans Arabic"/>
                        </a:rPr>
                        <a:t>DAM (دمشق ترانزيت)</a:t>
                      </a:r>
                    </a:p>
                  </a:txBody>
                  <a:tcPr marL="82296" marR="82296" marT="18288" marB="18288" anchor="ctr">
                    <a:solidFill>
                      <a:srgbClr val="F9F6E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IBM Plex Sans"/>
                          <a:cs typeface="IBM Plex Sans"/>
                        </a:rPr>
                        <a:t>$10 – $15</a:t>
                      </a:r>
                    </a:p>
                  </a:txBody>
                  <a:tcPr marL="82296" marR="82296" marT="18288" marB="18288" anchor="ctr">
                    <a:solidFill>
                      <a:srgbClr val="F9F6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 rtl="1"/>
                      <a:r>
                        <a:rPr sz="1000" b="0">
                          <a:solidFill>
                            <a:srgbClr val="222222"/>
                          </a:solidFill>
                          <a:latin typeface="IBM Plex Sans Arabic"/>
                          <a:cs typeface="IBM Plex Sans Arabic"/>
                        </a:rPr>
                        <a:t>نعم — شركة سورية، البيانات في سورية / Yes — Syrian, data in Syria</a:t>
                      </a:r>
                    </a:p>
                  </a:txBody>
                  <a:tcPr marL="82296" marR="82296" marT="18288" marB="18288" anchor="ctr">
                    <a:solidFill>
                      <a:srgbClr val="F9F6E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r" rtl="1"/>
                      <a:r>
                        <a:rPr sz="1000" b="0">
                          <a:solidFill>
                            <a:srgbClr val="222222"/>
                          </a:solidFill>
                          <a:latin typeface="IBM Plex Sans Arabic"/>
                          <a:cs typeface="IBM Plex Sans Arabic"/>
                        </a:rPr>
                        <a:t>Swvl (مصر)</a:t>
                      </a:r>
                    </a:p>
                  </a:txBody>
                  <a:tcPr marL="82296" marR="82296" marT="18288" marB="18288" anchor="ctr">
                    <a:solidFill>
                      <a:srgbClr val="EFEDE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IBM Plex Sans"/>
                          <a:cs typeface="IBM Plex Sans"/>
                        </a:rPr>
                        <a:t>$25 – $35</a:t>
                      </a:r>
                    </a:p>
                  </a:txBody>
                  <a:tcPr marL="82296" marR="82296" marT="18288" marB="18288" anchor="ctr">
                    <a:solidFill>
                      <a:srgbClr val="EFEDE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 rtl="1"/>
                      <a:r>
                        <a:rPr sz="1000" b="0">
                          <a:solidFill>
                            <a:srgbClr val="222222"/>
                          </a:solidFill>
                          <a:latin typeface="IBM Plex Sans Arabic"/>
                          <a:cs typeface="IBM Plex Sans Arabic"/>
                        </a:rPr>
                        <a:t>ممكن / Possible</a:t>
                      </a:r>
                    </a:p>
                  </a:txBody>
                  <a:tcPr marL="82296" marR="82296" marT="18288" marB="18288" anchor="ctr">
                    <a:solidFill>
                      <a:srgbClr val="EFEDE4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r" rtl="1"/>
                      <a:r>
                        <a:rPr sz="1000" b="0">
                          <a:solidFill>
                            <a:srgbClr val="222222"/>
                          </a:solidFill>
                          <a:latin typeface="IBM Plex Sans Arabic"/>
                          <a:cs typeface="IBM Plex Sans Arabic"/>
                        </a:rPr>
                        <a:t>Moovit (إنتل/إسرائيل)</a:t>
                      </a:r>
                    </a:p>
                  </a:txBody>
                  <a:tcPr marL="82296" marR="82296" marT="18288" marB="18288" anchor="ctr">
                    <a:solidFill>
                      <a:srgbClr val="F9F6E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IBM Plex Sans"/>
                          <a:cs typeface="IBM Plex Sans"/>
                        </a:rPr>
                        <a:t>$30 – $45</a:t>
                      </a:r>
                    </a:p>
                  </a:txBody>
                  <a:tcPr marL="82296" marR="82296" marT="18288" marB="18288" anchor="ctr">
                    <a:solidFill>
                      <a:srgbClr val="F9F6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 rtl="1"/>
                      <a:r>
                        <a:rPr sz="1000" b="0">
                          <a:solidFill>
                            <a:srgbClr val="222222"/>
                          </a:solidFill>
                          <a:latin typeface="IBM Plex Sans Arabic"/>
                          <a:cs typeface="IBM Plex Sans Arabic"/>
                        </a:rPr>
                        <a:t>لا — ملكية إسرائيلية / No — Israeli-owned</a:t>
                      </a:r>
                    </a:p>
                  </a:txBody>
                  <a:tcPr marL="82296" marR="82296" marT="18288" marB="18288" anchor="ctr">
                    <a:solidFill>
                      <a:srgbClr val="F9F6E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r" rtl="1"/>
                      <a:r>
                        <a:rPr sz="1000" b="0">
                          <a:solidFill>
                            <a:srgbClr val="222222"/>
                          </a:solidFill>
                          <a:latin typeface="IBM Plex Sans Arabic"/>
                          <a:cs typeface="IBM Plex Sans Arabic"/>
                        </a:rPr>
                        <a:t>Via (الولايات المتحدة)</a:t>
                      </a:r>
                    </a:p>
                  </a:txBody>
                  <a:tcPr marL="82296" marR="82296" marT="18288" marB="18288" anchor="ctr">
                    <a:solidFill>
                      <a:srgbClr val="EFEDE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IBM Plex Sans"/>
                          <a:cs typeface="IBM Plex Sans"/>
                        </a:rPr>
                        <a:t>$40 – $55</a:t>
                      </a:r>
                    </a:p>
                  </a:txBody>
                  <a:tcPr marL="82296" marR="82296" marT="18288" marB="18288" anchor="ctr">
                    <a:solidFill>
                      <a:srgbClr val="EFEDE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 rtl="1"/>
                      <a:r>
                        <a:rPr sz="1000" b="0">
                          <a:solidFill>
                            <a:srgbClr val="222222"/>
                          </a:solidFill>
                          <a:latin typeface="IBM Plex Sans Arabic"/>
                          <a:cs typeface="IBM Plex Sans Arabic"/>
                        </a:rPr>
                        <a:t>لا — مكلفة جداً / No — far too costly</a:t>
                      </a:r>
                    </a:p>
                  </a:txBody>
                  <a:tcPr marL="82296" marR="82296" marT="18288" marB="18288" anchor="ctr">
                    <a:solidFill>
                      <a:srgbClr val="EFEDE4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40080" y="4526280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spcBef>
                <a:spcPts val="200"/>
              </a:spcBef>
              <a:spcAft>
                <a:spcPts val="200"/>
              </a:spcAft>
            </a:pPr>
            <a:r>
              <a:rPr sz="1150" b="1" i="0">
                <a:solidFill>
                  <a:srgbClr val="1B4332"/>
                </a:solidFill>
                <a:latin typeface="IBM Plex Sans Arabic"/>
                <a:cs typeface="IBM Plex Sans Arabic"/>
              </a:rPr>
              <a:t>لا يوجد منافس فعلي في سورية اليوم — والريادة تبني خندقاً يستغرق 18–30 شهراً لأي وافد.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029200"/>
            <a:ext cx="10972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100" b="0" i="0">
                <a:solidFill>
                  <a:srgbClr val="7A7060"/>
                </a:solidFill>
                <a:latin typeface="IBM Plex Sans"/>
                <a:cs typeface="IBM Plex Sans"/>
              </a:rPr>
              <a:t>No real incumbent in Syria today — and first-mover advantage takes any entrant 18–30 months to match.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6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72800" cy="1051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spcBef>
                <a:spcPts val="200"/>
              </a:spcBef>
              <a:spcAft>
                <a:spcPts val="100"/>
              </a:spcAft>
            </a:pPr>
            <a:r>
              <a:rPr sz="2200" b="1" i="0">
                <a:solidFill>
                  <a:srgbClr val="1B4332"/>
                </a:solidFill>
                <a:latin typeface="IBM Plex Sans Arabic"/>
                <a:cs typeface="IBM Plex Sans Arabic"/>
              </a:rPr>
              <a:t>نموذج العمل والإيرادات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600" b="1" i="0">
                <a:solidFill>
                  <a:srgbClr val="7A7060"/>
                </a:solidFill>
                <a:latin typeface="IBM Plex Sans"/>
                <a:cs typeface="IBM Plex Sans"/>
              </a:rPr>
              <a:t>Business Model &amp; Revenue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737360"/>
            <a:ext cx="3383280" cy="1417320"/>
          </a:xfrm>
          <a:prstGeom prst="roundRect">
            <a:avLst/>
          </a:prstGeom>
          <a:solidFill>
            <a:srgbClr val="F9F6EF"/>
          </a:solidFill>
          <a:ln w="12700">
            <a:solidFill>
              <a:srgbClr val="E3E0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737360"/>
            <a:ext cx="109728" cy="1417320"/>
          </a:xfrm>
          <a:prstGeom prst="rect">
            <a:avLst/>
          </a:prstGeom>
          <a:solidFill>
            <a:srgbClr val="1B43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96112" y="1901952"/>
            <a:ext cx="2971800" cy="11247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spcBef>
                <a:spcPts val="200"/>
              </a:spcBef>
              <a:spcAft>
                <a:spcPts val="100"/>
              </a:spcAft>
            </a:pPr>
            <a:r>
              <a:rPr sz="1350" b="1" i="0">
                <a:solidFill>
                  <a:srgbClr val="1B4332"/>
                </a:solidFill>
                <a:latin typeface="IBM Plex Sans Arabic"/>
                <a:cs typeface="IBM Plex Sans Arabic"/>
              </a:rPr>
              <a:t>عقود حكومية</a:t>
            </a:r>
          </a:p>
          <a:p>
            <a:pPr>
              <a:spcBef>
                <a:spcPts val="200"/>
              </a:spcBef>
              <a:spcAft>
                <a:spcPts val="300"/>
              </a:spcAft>
            </a:pPr>
            <a:r>
              <a:rPr sz="1300" b="1" i="0">
                <a:solidFill>
                  <a:srgbClr val="0D1B2A"/>
                </a:solidFill>
                <a:latin typeface="IBM Plex Sans"/>
                <a:cs typeface="IBM Plex Sans"/>
              </a:rPr>
              <a:t>Government contracts</a:t>
            </a:r>
          </a:p>
          <a:p>
            <a:pPr>
              <a:spcBef>
                <a:spcPts val="200"/>
              </a:spcBef>
              <a:spcAft>
                <a:spcPts val="0"/>
              </a:spcAft>
            </a:pPr>
            <a:r>
              <a:rPr sz="1050" b="0" i="0">
                <a:solidFill>
                  <a:srgbClr val="4A4A4A"/>
                </a:solidFill>
                <a:latin typeface="IBM Plex Sans"/>
                <a:cs typeface="IBM Plex Sans"/>
              </a:rPr>
              <a:t>Anchor revenue — Ministry &amp; governorate.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24528" y="1737360"/>
            <a:ext cx="3383280" cy="1417320"/>
          </a:xfrm>
          <a:prstGeom prst="roundRect">
            <a:avLst/>
          </a:prstGeom>
          <a:solidFill>
            <a:srgbClr val="F9F6EF"/>
          </a:solidFill>
          <a:ln w="12700">
            <a:solidFill>
              <a:srgbClr val="E3E0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224528" y="1737360"/>
            <a:ext cx="109728" cy="1417320"/>
          </a:xfrm>
          <a:prstGeom prst="rect">
            <a:avLst/>
          </a:prstGeom>
          <a:solidFill>
            <a:srgbClr val="C4B4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80560" y="1901952"/>
            <a:ext cx="2971800" cy="11247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spcBef>
                <a:spcPts val="200"/>
              </a:spcBef>
              <a:spcAft>
                <a:spcPts val="100"/>
              </a:spcAft>
            </a:pPr>
            <a:r>
              <a:rPr sz="1350" b="1" i="0">
                <a:solidFill>
                  <a:srgbClr val="1B4332"/>
                </a:solidFill>
                <a:latin typeface="IBM Plex Sans Arabic"/>
                <a:cs typeface="IBM Plex Sans Arabic"/>
              </a:rPr>
              <a:t>اشتراكات المشغّلين</a:t>
            </a:r>
          </a:p>
          <a:p>
            <a:pPr>
              <a:spcBef>
                <a:spcPts val="200"/>
              </a:spcBef>
              <a:spcAft>
                <a:spcPts val="300"/>
              </a:spcAft>
            </a:pPr>
            <a:r>
              <a:rPr sz="1300" b="1" i="0">
                <a:solidFill>
                  <a:srgbClr val="0D1B2A"/>
                </a:solidFill>
                <a:latin typeface="IBM Plex Sans"/>
                <a:cs typeface="IBM Plex Sans"/>
              </a:rPr>
              <a:t>Operator SaaS</a:t>
            </a:r>
          </a:p>
          <a:p>
            <a:pPr>
              <a:spcBef>
                <a:spcPts val="200"/>
              </a:spcBef>
              <a:spcAft>
                <a:spcPts val="0"/>
              </a:spcAft>
            </a:pPr>
            <a:r>
              <a:rPr sz="1050" b="0" i="0">
                <a:solidFill>
                  <a:srgbClr val="4A4A4A"/>
                </a:solidFill>
                <a:latin typeface="IBM Plex Sans"/>
                <a:cs typeface="IBM Plex Sans"/>
              </a:rPr>
              <a:t>200+ operators at $50–200/mo.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808975" y="1737360"/>
            <a:ext cx="3383280" cy="1417320"/>
          </a:xfrm>
          <a:prstGeom prst="roundRect">
            <a:avLst/>
          </a:prstGeom>
          <a:solidFill>
            <a:srgbClr val="F9F6EF"/>
          </a:solidFill>
          <a:ln w="12700">
            <a:solidFill>
              <a:srgbClr val="E3E0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808975" y="1737360"/>
            <a:ext cx="109728" cy="1417320"/>
          </a:xfrm>
          <a:prstGeom prst="rect">
            <a:avLst/>
          </a:prstGeom>
          <a:solidFill>
            <a:srgbClr val="1B43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65007" y="1901952"/>
            <a:ext cx="2971800" cy="11247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spcBef>
                <a:spcPts val="200"/>
              </a:spcBef>
              <a:spcAft>
                <a:spcPts val="100"/>
              </a:spcAft>
            </a:pPr>
            <a:r>
              <a:rPr sz="1350" b="1" i="0">
                <a:solidFill>
                  <a:srgbClr val="1B4332"/>
                </a:solidFill>
                <a:latin typeface="IBM Plex Sans Arabic"/>
                <a:cs typeface="IBM Plex Sans Arabic"/>
              </a:rPr>
              <a:t>ترخيص البيانات</a:t>
            </a:r>
          </a:p>
          <a:p>
            <a:pPr>
              <a:spcBef>
                <a:spcPts val="200"/>
              </a:spcBef>
              <a:spcAft>
                <a:spcPts val="300"/>
              </a:spcAft>
            </a:pPr>
            <a:r>
              <a:rPr sz="1300" b="1" i="0">
                <a:solidFill>
                  <a:srgbClr val="0D1B2A"/>
                </a:solidFill>
                <a:latin typeface="IBM Plex Sans"/>
                <a:cs typeface="IBM Plex Sans"/>
              </a:rPr>
              <a:t>Data licensing</a:t>
            </a:r>
          </a:p>
          <a:p>
            <a:pPr>
              <a:spcBef>
                <a:spcPts val="200"/>
              </a:spcBef>
              <a:spcAft>
                <a:spcPts val="0"/>
              </a:spcAft>
            </a:pPr>
            <a:r>
              <a:rPr sz="1050" b="0" i="0">
                <a:solidFill>
                  <a:srgbClr val="4A4A4A"/>
                </a:solidFill>
                <a:latin typeface="IBM Plex Sans"/>
                <a:cs typeface="IBM Plex Sans"/>
              </a:rPr>
              <a:t>Anonymized transit data for planners &amp; donors.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291840"/>
            <a:ext cx="3383280" cy="1417320"/>
          </a:xfrm>
          <a:prstGeom prst="roundRect">
            <a:avLst/>
          </a:prstGeom>
          <a:solidFill>
            <a:srgbClr val="F9F6EF"/>
          </a:solidFill>
          <a:ln w="12700">
            <a:solidFill>
              <a:srgbClr val="E3E0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40080" y="3291840"/>
            <a:ext cx="109728" cy="1417320"/>
          </a:xfrm>
          <a:prstGeom prst="rect">
            <a:avLst/>
          </a:prstGeom>
          <a:solidFill>
            <a:srgbClr val="C4B4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" y="3456432"/>
            <a:ext cx="2971800" cy="11247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spcBef>
                <a:spcPts val="200"/>
              </a:spcBef>
              <a:spcAft>
                <a:spcPts val="100"/>
              </a:spcAft>
            </a:pPr>
            <a:r>
              <a:rPr sz="1350" b="1" i="0">
                <a:solidFill>
                  <a:srgbClr val="1B4332"/>
                </a:solidFill>
                <a:latin typeface="IBM Plex Sans Arabic"/>
                <a:cs typeface="IBM Plex Sans Arabic"/>
              </a:rPr>
              <a:t>ترخيص المدن</a:t>
            </a:r>
          </a:p>
          <a:p>
            <a:pPr>
              <a:spcBef>
                <a:spcPts val="200"/>
              </a:spcBef>
              <a:spcAft>
                <a:spcPts val="300"/>
              </a:spcAft>
            </a:pPr>
            <a:r>
              <a:rPr sz="1300" b="1" i="0">
                <a:solidFill>
                  <a:srgbClr val="0D1B2A"/>
                </a:solidFill>
                <a:latin typeface="IBM Plex Sans"/>
                <a:cs typeface="IBM Plex Sans"/>
              </a:rPr>
              <a:t>City licensing</a:t>
            </a:r>
          </a:p>
          <a:p>
            <a:pPr>
              <a:spcBef>
                <a:spcPts val="200"/>
              </a:spcBef>
              <a:spcAft>
                <a:spcPts val="0"/>
              </a:spcAft>
            </a:pPr>
            <a:r>
              <a:rPr sz="1050" b="0" i="0">
                <a:solidFill>
                  <a:srgbClr val="4A4A4A"/>
                </a:solidFill>
                <a:latin typeface="IBM Plex Sans"/>
                <a:cs typeface="IBM Plex Sans"/>
              </a:rPr>
              <a:t>Replicate to Aleppo, Homs, Lattakia.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224528" y="3291840"/>
            <a:ext cx="3383280" cy="1417320"/>
          </a:xfrm>
          <a:prstGeom prst="roundRect">
            <a:avLst/>
          </a:prstGeom>
          <a:solidFill>
            <a:srgbClr val="F9F6EF"/>
          </a:solidFill>
          <a:ln w="12700">
            <a:solidFill>
              <a:srgbClr val="E3E0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224528" y="3291840"/>
            <a:ext cx="109728" cy="1417320"/>
          </a:xfrm>
          <a:prstGeom prst="rect">
            <a:avLst/>
          </a:prstGeom>
          <a:solidFill>
            <a:srgbClr val="1B43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480560" y="3456432"/>
            <a:ext cx="2971800" cy="11247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spcBef>
                <a:spcPts val="200"/>
              </a:spcBef>
              <a:spcAft>
                <a:spcPts val="100"/>
              </a:spcAft>
            </a:pPr>
            <a:r>
              <a:rPr sz="1350" b="1" i="0">
                <a:solidFill>
                  <a:srgbClr val="1B4332"/>
                </a:solidFill>
                <a:latin typeface="IBM Plex Sans Arabic"/>
                <a:cs typeface="IBM Plex Sans Arabic"/>
              </a:rPr>
              <a:t>الإعلانات</a:t>
            </a:r>
          </a:p>
          <a:p>
            <a:pPr>
              <a:spcBef>
                <a:spcPts val="200"/>
              </a:spcBef>
              <a:spcAft>
                <a:spcPts val="300"/>
              </a:spcAft>
            </a:pPr>
            <a:r>
              <a:rPr sz="1300" b="1" i="0">
                <a:solidFill>
                  <a:srgbClr val="0D1B2A"/>
                </a:solidFill>
                <a:latin typeface="IBM Plex Sans"/>
                <a:cs typeface="IBM Plex Sans"/>
              </a:rPr>
              <a:t>Advertising</a:t>
            </a:r>
          </a:p>
          <a:p>
            <a:pPr>
              <a:spcBef>
                <a:spcPts val="200"/>
              </a:spcBef>
              <a:spcAft>
                <a:spcPts val="0"/>
              </a:spcAft>
            </a:pPr>
            <a:r>
              <a:rPr sz="1050" b="0" i="0">
                <a:solidFill>
                  <a:srgbClr val="4A4A4A"/>
                </a:solidFill>
                <a:latin typeface="IBM Plex Sans"/>
                <a:cs typeface="IBM Plex Sans"/>
              </a:rPr>
              <a:t>In-app passenger ads at scale.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808975" y="3291840"/>
            <a:ext cx="3383280" cy="1417320"/>
          </a:xfrm>
          <a:prstGeom prst="roundRect">
            <a:avLst/>
          </a:prstGeom>
          <a:solidFill>
            <a:srgbClr val="F9F6EF"/>
          </a:solidFill>
          <a:ln w="12700">
            <a:solidFill>
              <a:srgbClr val="E3E0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808975" y="3291840"/>
            <a:ext cx="109728" cy="1417320"/>
          </a:xfrm>
          <a:prstGeom prst="rect">
            <a:avLst/>
          </a:prstGeom>
          <a:solidFill>
            <a:srgbClr val="C4B4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065007" y="3456432"/>
            <a:ext cx="2971800" cy="11247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spcBef>
                <a:spcPts val="200"/>
              </a:spcBef>
              <a:spcAft>
                <a:spcPts val="100"/>
              </a:spcAft>
            </a:pPr>
            <a:r>
              <a:rPr sz="1350" b="1" i="0">
                <a:solidFill>
                  <a:srgbClr val="1B4332"/>
                </a:solidFill>
                <a:latin typeface="IBM Plex Sans Arabic"/>
                <a:cs typeface="IBM Plex Sans Arabic"/>
              </a:rPr>
              <a:t>المنح</a:t>
            </a:r>
          </a:p>
          <a:p>
            <a:pPr>
              <a:spcBef>
                <a:spcPts val="200"/>
              </a:spcBef>
              <a:spcAft>
                <a:spcPts val="300"/>
              </a:spcAft>
            </a:pPr>
            <a:r>
              <a:rPr sz="1300" b="1" i="0">
                <a:solidFill>
                  <a:srgbClr val="0D1B2A"/>
                </a:solidFill>
                <a:latin typeface="IBM Plex Sans"/>
                <a:cs typeface="IBM Plex Sans"/>
              </a:rPr>
              <a:t>Grants</a:t>
            </a:r>
          </a:p>
          <a:p>
            <a:pPr>
              <a:spcBef>
                <a:spcPts val="200"/>
              </a:spcBef>
              <a:spcAft>
                <a:spcPts val="0"/>
              </a:spcAft>
            </a:pPr>
            <a:r>
              <a:rPr sz="1050" b="0" i="0">
                <a:solidFill>
                  <a:srgbClr val="4A4A4A"/>
                </a:solidFill>
                <a:latin typeface="IBM Plex Sans"/>
                <a:cs typeface="IBM Plex Sans"/>
              </a:rPr>
              <a:t>World Bank, UNDP (fund hardware, not opex).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5029200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200"/>
              </a:spcBef>
              <a:spcAft>
                <a:spcPts val="200"/>
              </a:spcAft>
            </a:pPr>
            <a:r>
              <a:rPr sz="1600" b="1" i="0">
                <a:solidFill>
                  <a:srgbClr val="1B4332"/>
                </a:solidFill>
                <a:latin typeface="IBM Plex Sans Arabic"/>
                <a:cs typeface="IBM Plex Sans Arabic"/>
              </a:rPr>
              <a:t>هدف الإيراد السنوي خلال 12 شهراً:  $250,000   ·   12-month ARR target: $250,000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6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72800" cy="1051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spcBef>
                <a:spcPts val="200"/>
              </a:spcBef>
              <a:spcAft>
                <a:spcPts val="100"/>
              </a:spcAft>
            </a:pPr>
            <a:r>
              <a:rPr sz="2200" b="1" i="0">
                <a:solidFill>
                  <a:srgbClr val="1B4332"/>
                </a:solidFill>
                <a:latin typeface="IBM Plex Sans Arabic"/>
                <a:cs typeface="IBM Plex Sans Arabic"/>
              </a:rPr>
              <a:t>حجم السوق والنموّ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600" b="1" i="0">
                <a:solidFill>
                  <a:srgbClr val="7A7060"/>
                </a:solidFill>
                <a:latin typeface="IBM Plex Sans"/>
                <a:cs typeface="IBM Plex Sans"/>
              </a:rPr>
              <a:t>Market Size &amp; Growth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80" y="1737360"/>
          <a:ext cx="6858000" cy="186537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743200"/>
                <a:gridCol w="2057400"/>
                <a:gridCol w="2057400"/>
              </a:tblGrid>
              <a:tr h="310896">
                <a:tc>
                  <a:txBody>
                    <a:bodyPr wrap="square"/>
                    <a:lstStyle/>
                    <a:p>
                      <a:pPr algn="r" rtl="1"/>
                      <a:r>
                        <a:rPr sz="1000" b="1">
                          <a:solidFill>
                            <a:srgbClr val="F9F6EF"/>
                          </a:solidFill>
                          <a:latin typeface="IBM Plex Sans Arabic"/>
                          <a:cs typeface="IBM Plex Sans Arabic"/>
                        </a:rPr>
                        <a:t>المدينة / City</a:t>
                      </a:r>
                    </a:p>
                  </a:txBody>
                  <a:tcPr marL="82296" marR="82296" marT="18288" marB="18288" anchor="ctr">
                    <a:solidFill>
                      <a:srgbClr val="1B433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 rtl="1"/>
                      <a:r>
                        <a:rPr sz="1000" b="1">
                          <a:solidFill>
                            <a:srgbClr val="F9F6EF"/>
                          </a:solidFill>
                          <a:latin typeface="IBM Plex Sans Arabic"/>
                          <a:cs typeface="IBM Plex Sans Arabic"/>
                        </a:rPr>
                        <a:t>الأسطول / Fleet</a:t>
                      </a:r>
                    </a:p>
                  </a:txBody>
                  <a:tcPr marL="82296" marR="82296" marT="18288" marB="18288" anchor="ctr">
                    <a:solidFill>
                      <a:srgbClr val="1B433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 rtl="1"/>
                      <a:r>
                        <a:rPr sz="1000" b="1">
                          <a:solidFill>
                            <a:srgbClr val="F9F6EF"/>
                          </a:solidFill>
                          <a:latin typeface="IBM Plex Sans Arabic"/>
                          <a:cs typeface="IBM Plex Sans Arabic"/>
                        </a:rPr>
                        <a:t>الإيراد السنوي / Annual @ $15</a:t>
                      </a:r>
                    </a:p>
                  </a:txBody>
                  <a:tcPr marL="82296" marR="82296" marT="18288" marB="18288" anchor="ctr">
                    <a:solidFill>
                      <a:srgbClr val="1B4332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r" rtl="1"/>
                      <a:r>
                        <a:rPr sz="1000" b="0">
                          <a:solidFill>
                            <a:srgbClr val="222222"/>
                          </a:solidFill>
                          <a:latin typeface="IBM Plex Sans Arabic"/>
                          <a:cs typeface="IBM Plex Sans Arabic"/>
                        </a:rPr>
                        <a:t>دمشق / Damascus</a:t>
                      </a:r>
                    </a:p>
                  </a:txBody>
                  <a:tcPr marL="82296" marR="82296" marT="18288" marB="18288" anchor="ctr">
                    <a:solidFill>
                      <a:srgbClr val="F9F6E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IBM Plex Sans"/>
                          <a:cs typeface="IBM Plex Sans"/>
                        </a:rPr>
                        <a:t>6,000</a:t>
                      </a:r>
                    </a:p>
                  </a:txBody>
                  <a:tcPr marL="82296" marR="82296" marT="18288" marB="18288" anchor="ctr">
                    <a:solidFill>
                      <a:srgbClr val="F9F6E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IBM Plex Sans"/>
                          <a:cs typeface="IBM Plex Sans"/>
                        </a:rPr>
                        <a:t>$1.08M</a:t>
                      </a:r>
                    </a:p>
                  </a:txBody>
                  <a:tcPr marL="82296" marR="82296" marT="18288" marB="18288" anchor="ctr">
                    <a:solidFill>
                      <a:srgbClr val="F9F6E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r" rtl="1"/>
                      <a:r>
                        <a:rPr sz="1000" b="0">
                          <a:solidFill>
                            <a:srgbClr val="222222"/>
                          </a:solidFill>
                          <a:latin typeface="IBM Plex Sans Arabic"/>
                          <a:cs typeface="IBM Plex Sans Arabic"/>
                        </a:rPr>
                        <a:t>حلب / Aleppo</a:t>
                      </a:r>
                    </a:p>
                  </a:txBody>
                  <a:tcPr marL="82296" marR="82296" marT="18288" marB="18288" anchor="ctr">
                    <a:solidFill>
                      <a:srgbClr val="EFEDE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IBM Plex Sans"/>
                          <a:cs typeface="IBM Plex Sans"/>
                        </a:rPr>
                        <a:t>4,000–5,000</a:t>
                      </a:r>
                    </a:p>
                  </a:txBody>
                  <a:tcPr marL="82296" marR="82296" marT="18288" marB="18288" anchor="ctr">
                    <a:solidFill>
                      <a:srgbClr val="EFEDE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IBM Plex Sans"/>
                          <a:cs typeface="IBM Plex Sans"/>
                        </a:rPr>
                        <a:t>$0.90M</a:t>
                      </a:r>
                    </a:p>
                  </a:txBody>
                  <a:tcPr marL="82296" marR="82296" marT="18288" marB="18288" anchor="ctr">
                    <a:solidFill>
                      <a:srgbClr val="EFEDE4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r" rtl="1"/>
                      <a:r>
                        <a:rPr sz="1000" b="0">
                          <a:solidFill>
                            <a:srgbClr val="222222"/>
                          </a:solidFill>
                          <a:latin typeface="IBM Plex Sans Arabic"/>
                          <a:cs typeface="IBM Plex Sans Arabic"/>
                        </a:rPr>
                        <a:t>حمص / Homs</a:t>
                      </a:r>
                    </a:p>
                  </a:txBody>
                  <a:tcPr marL="82296" marR="82296" marT="18288" marB="18288" anchor="ctr">
                    <a:solidFill>
                      <a:srgbClr val="F9F6E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IBM Plex Sans"/>
                          <a:cs typeface="IBM Plex Sans"/>
                        </a:rPr>
                        <a:t>1,500–2,500</a:t>
                      </a:r>
                    </a:p>
                  </a:txBody>
                  <a:tcPr marL="82296" marR="82296" marT="18288" marB="18288" anchor="ctr">
                    <a:solidFill>
                      <a:srgbClr val="F9F6E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IBM Plex Sans"/>
                          <a:cs typeface="IBM Plex Sans"/>
                        </a:rPr>
                        <a:t>$0.45M</a:t>
                      </a:r>
                    </a:p>
                  </a:txBody>
                  <a:tcPr marL="82296" marR="82296" marT="18288" marB="18288" anchor="ctr">
                    <a:solidFill>
                      <a:srgbClr val="F9F6E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r" rtl="1"/>
                      <a:r>
                        <a:rPr sz="1000" b="0">
                          <a:solidFill>
                            <a:srgbClr val="222222"/>
                          </a:solidFill>
                          <a:latin typeface="IBM Plex Sans Arabic"/>
                          <a:cs typeface="IBM Plex Sans Arabic"/>
                        </a:rPr>
                        <a:t>اللاذقية / Lattakia</a:t>
                      </a:r>
                    </a:p>
                  </a:txBody>
                  <a:tcPr marL="82296" marR="82296" marT="18288" marB="18288" anchor="ctr">
                    <a:solidFill>
                      <a:srgbClr val="EFEDE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IBM Plex Sans"/>
                          <a:cs typeface="IBM Plex Sans"/>
                        </a:rPr>
                        <a:t>1,200–2,000</a:t>
                      </a:r>
                    </a:p>
                  </a:txBody>
                  <a:tcPr marL="82296" marR="82296" marT="18288" marB="18288" anchor="ctr">
                    <a:solidFill>
                      <a:srgbClr val="EFEDE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IBM Plex Sans"/>
                          <a:cs typeface="IBM Plex Sans"/>
                        </a:rPr>
                        <a:t>$0.36M</a:t>
                      </a:r>
                    </a:p>
                  </a:txBody>
                  <a:tcPr marL="82296" marR="82296" marT="18288" marB="18288" anchor="ctr">
                    <a:solidFill>
                      <a:srgbClr val="EFEDE4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r" rtl="1"/>
                      <a:r>
                        <a:rPr sz="1000" b="0">
                          <a:solidFill>
                            <a:srgbClr val="222222"/>
                          </a:solidFill>
                          <a:latin typeface="IBM Plex Sans Arabic"/>
                          <a:cs typeface="IBM Plex Sans Arabic"/>
                        </a:rPr>
                        <a:t>سوريا كاملة / All Syria</a:t>
                      </a:r>
                    </a:p>
                  </a:txBody>
                  <a:tcPr marL="82296" marR="82296" marT="18288" marB="18288" anchor="ctr">
                    <a:solidFill>
                      <a:srgbClr val="F9F6E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IBM Plex Sans"/>
                          <a:cs typeface="IBM Plex Sans"/>
                        </a:rPr>
                        <a:t>~20,000</a:t>
                      </a:r>
                    </a:p>
                  </a:txBody>
                  <a:tcPr marL="82296" marR="82296" marT="18288" marB="18288" anchor="ctr">
                    <a:solidFill>
                      <a:srgbClr val="F9F6E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IBM Plex Sans"/>
                          <a:cs typeface="IBM Plex Sans"/>
                        </a:rPr>
                        <a:t>$3.6M (base)</a:t>
                      </a:r>
                    </a:p>
                  </a:txBody>
                  <a:tcPr marL="82296" marR="82296" marT="18288" marB="18288" anchor="ctr">
                    <a:solidFill>
                      <a:srgbClr val="F9F6E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7772400" y="1737360"/>
            <a:ext cx="3749039" cy="2926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spcBef>
                <a:spcPts val="200"/>
              </a:spcBef>
              <a:spcAft>
                <a:spcPts val="200"/>
              </a:spcAft>
            </a:pPr>
            <a:r>
              <a:rPr sz="1400" b="1" i="0">
                <a:solidFill>
                  <a:srgbClr val="1B4332"/>
                </a:solidFill>
                <a:latin typeface="IBM Plex Sans Arabic"/>
                <a:cs typeface="IBM Plex Sans Arabic"/>
              </a:rPr>
              <a:t>خطة التوسّع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200" b="1" i="0">
                <a:solidFill>
                  <a:srgbClr val="0D1B2A"/>
                </a:solidFill>
                <a:latin typeface="IBM Plex Sans"/>
                <a:cs typeface="IBM Plex Sans"/>
              </a:rPr>
              <a:t>Expansion path</a:t>
            </a:r>
          </a:p>
          <a:p>
            <a:pPr algn="r" rtl="1">
              <a:spcBef>
                <a:spcPts val="200"/>
              </a:spcBef>
              <a:spcAft>
                <a:spcPts val="600"/>
              </a:spcAft>
            </a:pPr>
            <a:r>
              <a:rPr sz="1200" b="0" i="0">
                <a:solidFill>
                  <a:srgbClr val="333333"/>
                </a:solidFill>
                <a:latin typeface="IBM Plex Sans Arabic"/>
                <a:cs typeface="IBM Plex Sans Arabic"/>
              </a:rPr>
              <a:t>دمشق الآن / Damascus now  •</a:t>
            </a:r>
          </a:p>
          <a:p>
            <a:pPr algn="r" rtl="1">
              <a:spcBef>
                <a:spcPts val="200"/>
              </a:spcBef>
              <a:spcAft>
                <a:spcPts val="600"/>
              </a:spcAft>
            </a:pPr>
            <a:r>
              <a:rPr sz="1200" b="0" i="0">
                <a:solidFill>
                  <a:srgbClr val="333333"/>
                </a:solidFill>
                <a:latin typeface="IBM Plex Sans Arabic"/>
                <a:cs typeface="IBM Plex Sans Arabic"/>
              </a:rPr>
              <a:t>حلب — الشهر 18 / Aleppo — M18  •</a:t>
            </a:r>
          </a:p>
          <a:p>
            <a:pPr algn="r" rtl="1">
              <a:spcBef>
                <a:spcPts val="200"/>
              </a:spcBef>
              <a:spcAft>
                <a:spcPts val="600"/>
              </a:spcAft>
            </a:pPr>
            <a:r>
              <a:rPr sz="1200" b="0" i="0">
                <a:solidFill>
                  <a:srgbClr val="333333"/>
                </a:solidFill>
                <a:latin typeface="IBM Plex Sans Arabic"/>
                <a:cs typeface="IBM Plex Sans Arabic"/>
              </a:rPr>
              <a:t>حمص — الشهر 22 / Homs — M22  •</a:t>
            </a:r>
          </a:p>
          <a:p>
            <a:pPr algn="r" rtl="1">
              <a:spcBef>
                <a:spcPts val="200"/>
              </a:spcBef>
              <a:spcAft>
                <a:spcPts val="600"/>
              </a:spcAft>
            </a:pPr>
            <a:r>
              <a:rPr sz="1200" b="0" i="0">
                <a:solidFill>
                  <a:srgbClr val="333333"/>
                </a:solidFill>
                <a:latin typeface="IBM Plex Sans Arabic"/>
                <a:cs typeface="IBM Plex Sans Arabic"/>
              </a:rPr>
              <a:t>اللاذقية — الشهر 24 / Lattakia — M24  •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743200"/>
            <a:ext cx="320040" cy="1463040"/>
          </a:xfrm>
          <a:prstGeom prst="rect">
            <a:avLst/>
          </a:prstGeom>
          <a:solidFill>
            <a:srgbClr val="C4B4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651760"/>
            <a:ext cx="1051560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4600" b="1" i="0">
                <a:solidFill>
                  <a:srgbClr val="C4B47E"/>
                </a:solidFill>
                <a:latin typeface="IBM Plex Sans"/>
                <a:cs typeface="IBM Plex Sans"/>
              </a:rPr>
              <a:t>03</a:t>
            </a:r>
          </a:p>
          <a:p>
            <a:pPr algn="r" rtl="1">
              <a:spcBef>
                <a:spcPts val="200"/>
              </a:spcBef>
              <a:spcAft>
                <a:spcPts val="200"/>
              </a:spcAft>
            </a:pPr>
            <a:r>
              <a:rPr sz="3000" b="1" i="0">
                <a:solidFill>
                  <a:srgbClr val="F9F6EF"/>
                </a:solidFill>
                <a:latin typeface="IBM Plex Sans Arabic"/>
                <a:cs typeface="IBM Plex Sans Arabic"/>
              </a:rPr>
              <a:t>الرؤية المستقبلية: التكامل مع وزارة الداخلية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2200" b="1" i="0">
                <a:solidFill>
                  <a:srgbClr val="D9D5CC"/>
                </a:solidFill>
                <a:latin typeface="IBM Plex Sans"/>
                <a:cs typeface="IBM Plex Sans"/>
              </a:rPr>
              <a:t>Future Vision: Integration with the Ministry of Interior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6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72800" cy="1051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spcBef>
                <a:spcPts val="200"/>
              </a:spcBef>
              <a:spcAft>
                <a:spcPts val="100"/>
              </a:spcAft>
            </a:pPr>
            <a:r>
              <a:rPr sz="2200" b="1" i="0">
                <a:solidFill>
                  <a:srgbClr val="1B4332"/>
                </a:solidFill>
                <a:latin typeface="IBM Plex Sans Arabic"/>
                <a:cs typeface="IBM Plex Sans Arabic"/>
              </a:rPr>
              <a:t>وزارة الداخلية: المخالفات والتقارير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600" b="1" i="0">
                <a:solidFill>
                  <a:srgbClr val="7A7060"/>
                </a:solidFill>
                <a:latin typeface="IBM Plex Sans"/>
                <a:cs typeface="IBM Plex Sans"/>
              </a:rPr>
              <a:t>Ministry of Interior: Fines &amp; Reports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737360"/>
            <a:ext cx="5349240" cy="1481328"/>
          </a:xfrm>
          <a:prstGeom prst="roundRect">
            <a:avLst/>
          </a:prstGeom>
          <a:solidFill>
            <a:srgbClr val="F9F6EF"/>
          </a:solidFill>
          <a:ln w="12700">
            <a:solidFill>
              <a:srgbClr val="E3E0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737360"/>
            <a:ext cx="109728" cy="1481328"/>
          </a:xfrm>
          <a:prstGeom prst="rect">
            <a:avLst/>
          </a:prstGeom>
          <a:solidFill>
            <a:srgbClr val="1B43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96112" y="1901952"/>
            <a:ext cx="4937759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spcBef>
                <a:spcPts val="200"/>
              </a:spcBef>
              <a:spcAft>
                <a:spcPts val="100"/>
              </a:spcAft>
            </a:pPr>
            <a:r>
              <a:rPr sz="1350" b="1" i="0">
                <a:solidFill>
                  <a:srgbClr val="1B4332"/>
                </a:solidFill>
                <a:latin typeface="IBM Plex Sans Arabic"/>
                <a:cs typeface="IBM Plex Sans Arabic"/>
              </a:rPr>
              <a:t>المخالفات المرورية الآلية</a:t>
            </a:r>
          </a:p>
          <a:p>
            <a:pPr>
              <a:spcBef>
                <a:spcPts val="200"/>
              </a:spcBef>
              <a:spcAft>
                <a:spcPts val="300"/>
              </a:spcAft>
            </a:pPr>
            <a:r>
              <a:rPr sz="1300" b="1" i="0">
                <a:solidFill>
                  <a:srgbClr val="0D1B2A"/>
                </a:solidFill>
                <a:latin typeface="IBM Plex Sans"/>
                <a:cs typeface="IBM Plex Sans"/>
              </a:rPr>
              <a:t>Automated traffic fines</a:t>
            </a:r>
          </a:p>
          <a:p>
            <a:pPr>
              <a:spcBef>
                <a:spcPts val="200"/>
              </a:spcBef>
              <a:spcAft>
                <a:spcPts val="0"/>
              </a:spcAft>
            </a:pPr>
            <a:r>
              <a:rPr sz="1050" b="0" i="0">
                <a:solidFill>
                  <a:srgbClr val="4A4A4A"/>
                </a:solidFill>
                <a:latin typeface="IBM Plex Sans"/>
                <a:cs typeface="IBM Plex Sans"/>
              </a:rPr>
              <a:t>Speeding &amp; route violations detected from GPS, referred to MoI for fines.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99632" y="1737360"/>
            <a:ext cx="5349240" cy="1481328"/>
          </a:xfrm>
          <a:prstGeom prst="roundRect">
            <a:avLst/>
          </a:prstGeom>
          <a:solidFill>
            <a:srgbClr val="F9F6EF"/>
          </a:solidFill>
          <a:ln w="12700">
            <a:solidFill>
              <a:srgbClr val="E3E0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199632" y="1737360"/>
            <a:ext cx="109728" cy="1481328"/>
          </a:xfrm>
          <a:prstGeom prst="rect">
            <a:avLst/>
          </a:prstGeom>
          <a:solidFill>
            <a:srgbClr val="C4B4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55664" y="1901952"/>
            <a:ext cx="4937759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spcBef>
                <a:spcPts val="200"/>
              </a:spcBef>
              <a:spcAft>
                <a:spcPts val="100"/>
              </a:spcAft>
            </a:pPr>
            <a:r>
              <a:rPr sz="1350" b="1" i="0">
                <a:solidFill>
                  <a:srgbClr val="1B4332"/>
                </a:solidFill>
                <a:latin typeface="IBM Plex Sans Arabic"/>
                <a:cs typeface="IBM Plex Sans Arabic"/>
              </a:rPr>
              <a:t>تقارير الحوادث</a:t>
            </a:r>
          </a:p>
          <a:p>
            <a:pPr>
              <a:spcBef>
                <a:spcPts val="200"/>
              </a:spcBef>
              <a:spcAft>
                <a:spcPts val="300"/>
              </a:spcAft>
            </a:pPr>
            <a:r>
              <a:rPr sz="1300" b="1" i="0">
                <a:solidFill>
                  <a:srgbClr val="0D1B2A"/>
                </a:solidFill>
                <a:latin typeface="IBM Plex Sans"/>
                <a:cs typeface="IBM Plex Sans"/>
              </a:rPr>
              <a:t>Incident &amp; accident reports</a:t>
            </a:r>
          </a:p>
          <a:p>
            <a:pPr>
              <a:spcBef>
                <a:spcPts val="200"/>
              </a:spcBef>
              <a:spcAft>
                <a:spcPts val="0"/>
              </a:spcAft>
            </a:pPr>
            <a:r>
              <a:rPr sz="1050" b="0" i="0">
                <a:solidFill>
                  <a:srgbClr val="4A4A4A"/>
                </a:solidFill>
                <a:latin typeface="IBM Plex Sans"/>
                <a:cs typeface="IBM Plex Sans"/>
              </a:rPr>
              <a:t>Driver/passenger reports + GPS trail shared with MoI for investigation.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3310128"/>
            <a:ext cx="5349240" cy="1481328"/>
          </a:xfrm>
          <a:prstGeom prst="roundRect">
            <a:avLst/>
          </a:prstGeom>
          <a:solidFill>
            <a:srgbClr val="F9F6EF"/>
          </a:solidFill>
          <a:ln w="12700">
            <a:solidFill>
              <a:srgbClr val="E3E0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" y="3310128"/>
            <a:ext cx="109728" cy="1481328"/>
          </a:xfrm>
          <a:prstGeom prst="rect">
            <a:avLst/>
          </a:prstGeom>
          <a:solidFill>
            <a:srgbClr val="1B43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96112" y="3474720"/>
            <a:ext cx="4937759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spcBef>
                <a:spcPts val="200"/>
              </a:spcBef>
              <a:spcAft>
                <a:spcPts val="100"/>
              </a:spcAft>
            </a:pPr>
            <a:r>
              <a:rPr sz="1350" b="1" i="0">
                <a:solidFill>
                  <a:srgbClr val="1B4332"/>
                </a:solidFill>
                <a:latin typeface="IBM Plex Sans Arabic"/>
                <a:cs typeface="IBM Plex Sans Arabic"/>
              </a:rPr>
              <a:t>التحقّق من المركبات</a:t>
            </a:r>
          </a:p>
          <a:p>
            <a:pPr>
              <a:spcBef>
                <a:spcPts val="200"/>
              </a:spcBef>
              <a:spcAft>
                <a:spcPts val="300"/>
              </a:spcAft>
            </a:pPr>
            <a:r>
              <a:rPr sz="1300" b="1" i="0">
                <a:solidFill>
                  <a:srgbClr val="0D1B2A"/>
                </a:solidFill>
                <a:latin typeface="IBM Plex Sans"/>
                <a:cs typeface="IBM Plex Sans"/>
              </a:rPr>
              <a:t>Vehicle &amp; plate verification</a:t>
            </a:r>
          </a:p>
          <a:p>
            <a:pPr>
              <a:spcBef>
                <a:spcPts val="200"/>
              </a:spcBef>
              <a:spcAft>
                <a:spcPts val="0"/>
              </a:spcAft>
            </a:pPr>
            <a:r>
              <a:rPr sz="1050" b="0" i="0">
                <a:solidFill>
                  <a:srgbClr val="4A4A4A"/>
                </a:solidFill>
                <a:latin typeface="IBM Plex Sans"/>
                <a:cs typeface="IBM Plex Sans"/>
              </a:rPr>
              <a:t>Cross-check the fleet against MoI registration records.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99632" y="3310128"/>
            <a:ext cx="5349240" cy="1481328"/>
          </a:xfrm>
          <a:prstGeom prst="roundRect">
            <a:avLst/>
          </a:prstGeom>
          <a:solidFill>
            <a:srgbClr val="F9F6EF"/>
          </a:solidFill>
          <a:ln w="12700">
            <a:solidFill>
              <a:srgbClr val="E3E0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99632" y="3310128"/>
            <a:ext cx="109728" cy="1481328"/>
          </a:xfrm>
          <a:prstGeom prst="rect">
            <a:avLst/>
          </a:prstGeom>
          <a:solidFill>
            <a:srgbClr val="C4B4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55664" y="3474720"/>
            <a:ext cx="4937759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spcBef>
                <a:spcPts val="200"/>
              </a:spcBef>
              <a:spcAft>
                <a:spcPts val="100"/>
              </a:spcAft>
            </a:pPr>
            <a:r>
              <a:rPr sz="1350" b="1" i="0">
                <a:solidFill>
                  <a:srgbClr val="1B4332"/>
                </a:solidFill>
                <a:latin typeface="IBM Plex Sans Arabic"/>
                <a:cs typeface="IBM Plex Sans Arabic"/>
              </a:rPr>
              <a:t>زر الطوارئ (SOS)</a:t>
            </a:r>
          </a:p>
          <a:p>
            <a:pPr>
              <a:spcBef>
                <a:spcPts val="200"/>
              </a:spcBef>
              <a:spcAft>
                <a:spcPts val="300"/>
              </a:spcAft>
            </a:pPr>
            <a:r>
              <a:rPr sz="1300" b="1" i="0">
                <a:solidFill>
                  <a:srgbClr val="0D1B2A"/>
                </a:solidFill>
                <a:latin typeface="IBM Plex Sans"/>
                <a:cs typeface="IBM Plex Sans"/>
              </a:rPr>
              <a:t>Emergency SOS</a:t>
            </a:r>
          </a:p>
          <a:p>
            <a:pPr>
              <a:spcBef>
                <a:spcPts val="200"/>
              </a:spcBef>
              <a:spcAft>
                <a:spcPts val="0"/>
              </a:spcAft>
            </a:pPr>
            <a:r>
              <a:rPr sz="1050" b="0" i="0">
                <a:solidFill>
                  <a:srgbClr val="4A4A4A"/>
                </a:solidFill>
                <a:latin typeface="IBM Plex Sans"/>
                <a:cs typeface="IBM Plex Sans"/>
              </a:rPr>
              <a:t>Driver panic alert routes to MoI dispatch with live location.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4983480"/>
            <a:ext cx="109728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spcBef>
                <a:spcPts val="200"/>
              </a:spcBef>
              <a:spcAft>
                <a:spcPts val="600"/>
              </a:spcAft>
            </a:pPr>
            <a:r>
              <a:rPr sz="1150" b="0" i="0">
                <a:solidFill>
                  <a:srgbClr val="333333"/>
                </a:solidFill>
                <a:latin typeface="IBM Plex Sans Arabic"/>
                <a:cs typeface="IBM Plex Sans Arabic"/>
              </a:rPr>
              <a:t>مرحلة لاحقة (المرحلة 3+)، محكومة بقانون النقل 12/2024 ومرسوم حماية البيانات: صلاحيات حسب الدور، وسجلّ تدقيق كامل، وضمانات خصوصية.  •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150" b="0" i="0">
                <a:solidFill>
                  <a:srgbClr val="333333"/>
                </a:solidFill>
                <a:latin typeface="IBM Plex Sans"/>
                <a:cs typeface="IBM Plex Sans"/>
              </a:rPr>
              <a:t>•  A later phase (Phase 3+), governed by Transport Law 12/2024 and the data-protection decree: role-based access, full audit logs, and privacy safeguards.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6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72800" cy="1051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spcBef>
                <a:spcPts val="200"/>
              </a:spcBef>
              <a:spcAft>
                <a:spcPts val="100"/>
              </a:spcAft>
            </a:pPr>
            <a:r>
              <a:rPr sz="2200" b="1" i="0">
                <a:solidFill>
                  <a:srgbClr val="1B4332"/>
                </a:solidFill>
                <a:latin typeface="IBM Plex Sans Arabic"/>
                <a:cs typeface="IBM Plex Sans Arabic"/>
              </a:rPr>
              <a:t>الطلب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600" b="1" i="0">
                <a:solidFill>
                  <a:srgbClr val="7A7060"/>
                </a:solidFill>
                <a:latin typeface="IBM Plex Sans"/>
                <a:cs typeface="IBM Plex Sans"/>
              </a:rPr>
              <a:t>The Ask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783080"/>
            <a:ext cx="5349240" cy="3383280"/>
          </a:xfrm>
          <a:prstGeom prst="roundRect">
            <a:avLst/>
          </a:prstGeom>
          <a:solidFill>
            <a:srgbClr val="1B43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011680"/>
            <a:ext cx="4846320" cy="2926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spcBef>
                <a:spcPts val="200"/>
              </a:spcBef>
              <a:spcAft>
                <a:spcPts val="200"/>
              </a:spcAft>
            </a:pPr>
            <a:r>
              <a:rPr sz="1500" b="1" i="0">
                <a:solidFill>
                  <a:srgbClr val="C4B47E"/>
                </a:solidFill>
                <a:latin typeface="IBM Plex Sans Arabic"/>
                <a:cs typeface="IBM Plex Sans Arabic"/>
              </a:rPr>
              <a:t>عقد تجريبي 6 أشهر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300" b="1" i="0">
                <a:solidFill>
                  <a:srgbClr val="F9F6EF"/>
                </a:solidFill>
                <a:latin typeface="IBM Plex Sans"/>
                <a:cs typeface="IBM Plex Sans"/>
              </a:rPr>
              <a:t>6-month pilot contract</a:t>
            </a:r>
          </a:p>
          <a:p>
            <a:pPr algn="r" rtl="1">
              <a:spcBef>
                <a:spcPts val="200"/>
              </a:spcBef>
              <a:spcAft>
                <a:spcPts val="600"/>
              </a:spcAft>
            </a:pPr>
            <a:r>
              <a:rPr sz="1150" b="0" i="0">
                <a:solidFill>
                  <a:srgbClr val="EDEAE2"/>
                </a:solidFill>
                <a:latin typeface="IBM Plex Sans Arabic"/>
                <a:cs typeface="IBM Plex Sans Arabic"/>
              </a:rPr>
              <a:t>50 مركبة على 3 مسارات / 50 vehicles, 3 routes  •</a:t>
            </a:r>
          </a:p>
          <a:p>
            <a:pPr algn="r" rtl="1">
              <a:spcBef>
                <a:spcPts val="200"/>
              </a:spcBef>
              <a:spcAft>
                <a:spcPts val="600"/>
              </a:spcAft>
            </a:pPr>
            <a:r>
              <a:rPr sz="1150" b="0" i="0">
                <a:solidFill>
                  <a:srgbClr val="EDEAE2"/>
                </a:solidFill>
                <a:latin typeface="IBM Plex Sans Arabic"/>
                <a:cs typeface="IBM Plex Sans Arabic"/>
              </a:rPr>
              <a:t>$3,000 إجمالاً (≈ SYP 346,500) / total  •</a:t>
            </a:r>
          </a:p>
          <a:p>
            <a:pPr algn="r" rtl="1">
              <a:spcBef>
                <a:spcPts val="200"/>
              </a:spcBef>
              <a:spcAft>
                <a:spcPts val="600"/>
              </a:spcAft>
            </a:pPr>
            <a:r>
              <a:rPr sz="1150" b="0" i="0">
                <a:solidFill>
                  <a:srgbClr val="EDEAE2"/>
                </a:solidFill>
                <a:latin typeface="IBM Plex Sans Arabic"/>
                <a:cs typeface="IBM Plex Sans Arabic"/>
              </a:rPr>
              <a:t>لوحة تحكّم للوزارة / Ministry dashboard  •</a:t>
            </a:r>
          </a:p>
          <a:p>
            <a:pPr algn="r" rtl="1">
              <a:spcBef>
                <a:spcPts val="200"/>
              </a:spcBef>
              <a:spcAft>
                <a:spcPts val="600"/>
              </a:spcAft>
            </a:pPr>
            <a:r>
              <a:rPr sz="1150" b="0" i="0">
                <a:solidFill>
                  <a:srgbClr val="EDEAE2"/>
                </a:solidFill>
                <a:latin typeface="IBM Plex Sans Arabic"/>
                <a:cs typeface="IBM Plex Sans Arabic"/>
              </a:rPr>
              <a:t>تقارير أداء شهرية / Monthly reports  •</a:t>
            </a:r>
          </a:p>
          <a:p>
            <a:pPr algn="r" rtl="1">
              <a:spcBef>
                <a:spcPts val="200"/>
              </a:spcBef>
              <a:spcAft>
                <a:spcPts val="600"/>
              </a:spcAft>
            </a:pPr>
            <a:r>
              <a:rPr sz="1150" b="0" i="0">
                <a:solidFill>
                  <a:srgbClr val="EDEAE2"/>
                </a:solidFill>
                <a:latin typeface="IBM Plex Sans Arabic"/>
                <a:cs typeface="IBM Plex Sans Arabic"/>
              </a:rPr>
              <a:t>تدريب بالعربية / Arabic training  •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99632" y="1783080"/>
            <a:ext cx="5349240" cy="3383280"/>
          </a:xfrm>
          <a:prstGeom prst="roundRect">
            <a:avLst/>
          </a:prstGeom>
          <a:solidFill>
            <a:srgbClr val="F9F6EF"/>
          </a:solidFill>
          <a:ln w="12700">
            <a:solidFill>
              <a:srgbClr val="E3E0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199632" y="1783080"/>
            <a:ext cx="109728" cy="3383280"/>
          </a:xfrm>
          <a:prstGeom prst="rect">
            <a:avLst/>
          </a:prstGeom>
          <a:solidFill>
            <a:srgbClr val="C4B4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55664" y="1947672"/>
            <a:ext cx="4937759" cy="30906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spcBef>
                <a:spcPts val="200"/>
              </a:spcBef>
              <a:spcAft>
                <a:spcPts val="100"/>
              </a:spcAft>
            </a:pPr>
            <a:r>
              <a:rPr sz="1350" b="1" i="0">
                <a:solidFill>
                  <a:srgbClr val="1B4332"/>
                </a:solidFill>
                <a:latin typeface="IBM Plex Sans Arabic"/>
                <a:cs typeface="IBM Plex Sans Arabic"/>
              </a:rPr>
              <a:t>ما يلزمنا من الوزارة</a:t>
            </a:r>
          </a:p>
          <a:p>
            <a:pPr>
              <a:spcBef>
                <a:spcPts val="200"/>
              </a:spcBef>
              <a:spcAft>
                <a:spcPts val="300"/>
              </a:spcAft>
            </a:pPr>
            <a:r>
              <a:rPr sz="1300" b="1" i="0">
                <a:solidFill>
                  <a:srgbClr val="0D1B2A"/>
                </a:solidFill>
                <a:latin typeface="IBM Plex Sans"/>
                <a:cs typeface="IBM Plex Sans"/>
              </a:rPr>
              <a:t>What DAM needs from the Ministry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46520" y="2697480"/>
            <a:ext cx="489204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spcBef>
                <a:spcPts val="200"/>
              </a:spcBef>
              <a:spcAft>
                <a:spcPts val="800"/>
              </a:spcAft>
            </a:pPr>
            <a:r>
              <a:rPr sz="1200" b="0" i="0">
                <a:solidFill>
                  <a:srgbClr val="333333"/>
                </a:solidFill>
                <a:latin typeface="IBM Plex Sans Arabic"/>
                <a:cs typeface="IBM Plex Sans Arabic"/>
              </a:rPr>
              <a:t>بيانات مسارات GIS الرسمية / Official GIS route data  •</a:t>
            </a:r>
          </a:p>
          <a:p>
            <a:pPr algn="r" rtl="1">
              <a:spcBef>
                <a:spcPts val="200"/>
              </a:spcBef>
              <a:spcAft>
                <a:spcPts val="800"/>
              </a:spcAft>
            </a:pPr>
            <a:r>
              <a:rPr sz="1200" b="0" i="0">
                <a:solidFill>
                  <a:srgbClr val="333333"/>
                </a:solidFill>
                <a:latin typeface="IBM Plex Sans Arabic"/>
                <a:cs typeface="IBM Plex Sans Arabic"/>
              </a:rPr>
              <a:t>رسالة تعريف لـ3 مشغّلين / Intro letter to 3 operators  •</a:t>
            </a:r>
          </a:p>
          <a:p>
            <a:pPr algn="r" rtl="1">
              <a:spcBef>
                <a:spcPts val="200"/>
              </a:spcBef>
              <a:spcAft>
                <a:spcPts val="800"/>
              </a:spcAft>
            </a:pPr>
            <a:r>
              <a:rPr sz="1200" b="0" i="0">
                <a:solidFill>
                  <a:srgbClr val="333333"/>
                </a:solidFill>
                <a:latin typeface="IBM Plex Sans Arabic"/>
                <a:cs typeface="IBM Plex Sans Arabic"/>
              </a:rPr>
              <a:t>توجيه بتركيب GPS على مركبات التجربة / Directive to install GPS  •</a:t>
            </a:r>
          </a:p>
          <a:p>
            <a:pPr algn="r" rtl="1">
              <a:spcBef>
                <a:spcPts val="200"/>
              </a:spcBef>
              <a:spcAft>
                <a:spcPts val="800"/>
              </a:spcAft>
            </a:pPr>
            <a:r>
              <a:rPr sz="1200" b="0" i="0">
                <a:solidFill>
                  <a:srgbClr val="333333"/>
                </a:solidFill>
                <a:latin typeface="IBM Plex Sans Arabic"/>
                <a:cs typeface="IBM Plex Sans Arabic"/>
              </a:rPr>
              <a:t>جهة تنسيق في الوزارة / A Ministry focal point  •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43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502920"/>
            <a:ext cx="914400" cy="9144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0080" y="2011680"/>
            <a:ext cx="1097280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spcBef>
                <a:spcPts val="200"/>
              </a:spcBef>
              <a:spcAft>
                <a:spcPts val="400"/>
              </a:spcAft>
            </a:pPr>
            <a:r>
              <a:rPr sz="3000" b="1" i="0">
                <a:solidFill>
                  <a:srgbClr val="F9F6EF"/>
                </a:solidFill>
                <a:latin typeface="IBM Plex Sans Arabic"/>
                <a:cs typeface="IBM Plex Sans Arabic"/>
              </a:rPr>
              <a:t>دمشق تستحق نقلاً عاماً بمستوى عواصم المنطقة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2200" b="1" i="0">
                <a:solidFill>
                  <a:srgbClr val="C4B47E"/>
                </a:solidFill>
                <a:latin typeface="IBM Plex Sans"/>
                <a:cs typeface="IBM Plex Sans"/>
              </a:rPr>
              <a:t>Damascus deserves public transit on par with regional capitals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023360"/>
            <a:ext cx="1097280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spcBef>
                <a:spcPts val="200"/>
              </a:spcBef>
              <a:spcAft>
                <a:spcPts val="700"/>
              </a:spcAft>
            </a:pPr>
            <a:r>
              <a:rPr sz="1250" b="0" i="0">
                <a:solidFill>
                  <a:srgbClr val="EDEAE2"/>
                </a:solidFill>
                <a:latin typeface="IBM Plex Sans Arabic"/>
                <a:cs typeface="IBM Plex Sans Arabic"/>
              </a:rPr>
              <a:t>خلال 12 شهراً: 500+ مركبة متتبّعة، انتظار من 45 إلى أقل من 10 دقائق، أول لوحة تحليلات للوزارة، ودمشق على خرائط Google.  •</a:t>
            </a:r>
          </a:p>
          <a:p>
            <a:pPr>
              <a:spcBef>
                <a:spcPts val="200"/>
              </a:spcBef>
              <a:spcAft>
                <a:spcPts val="700"/>
              </a:spcAft>
            </a:pPr>
            <a:r>
              <a:rPr sz="1250" b="0" i="0">
                <a:solidFill>
                  <a:srgbClr val="EDEAE2"/>
                </a:solidFill>
                <a:latin typeface="IBM Plex Sans"/>
                <a:cs typeface="IBM Plex Sans"/>
              </a:rPr>
              <a:t>•  In 12 months: 500+ vehicles tracked, wait time 45→under 10 min, the Ministry's first analytics dashboard, Damascus on Google Maps.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943600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300" b="1" i="0">
                <a:solidFill>
                  <a:srgbClr val="C4B47E"/>
                </a:solidFill>
                <a:latin typeface="IBM Plex Sans Arabic"/>
                <a:cs typeface="IBM Plex Sans Arabic"/>
              </a:rPr>
              <a:t>الأدوات جاهزة — ننتظر شراكة الوزارة.   ·   The tools are ready — we await the Ministry's partnership.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